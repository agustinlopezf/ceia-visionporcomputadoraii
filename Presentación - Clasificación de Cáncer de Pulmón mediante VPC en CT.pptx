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Raleway"/>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2346736-6829-488F-B508-B102F50FE000}">
  <a:tblStyle styleId="{F2346736-6829-488F-B508-B102F50FE00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aleway-bold.fntdata"/><Relationship Id="rId25" Type="http://schemas.openxmlformats.org/officeDocument/2006/relationships/font" Target="fonts/Raleway-regular.fntdata"/><Relationship Id="rId28" Type="http://schemas.openxmlformats.org/officeDocument/2006/relationships/font" Target="fonts/Raleway-boldItalic.fntdata"/><Relationship Id="rId27" Type="http://schemas.openxmlformats.org/officeDocument/2006/relationships/font" Target="fonts/Raleway-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Lato-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4.xml"/><Relationship Id="rId10" Type="http://schemas.openxmlformats.org/officeDocument/2006/relationships/slide" Target="slides/slide3.xml"/><Relationship Id="rId32" Type="http://schemas.openxmlformats.org/officeDocument/2006/relationships/font" Target="fonts/Lato-boldItalic.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ec02a6662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aec02a666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ec02a6662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aec02a6662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ec02a6662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ec02a6662_0_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ec02a6662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ec02a6662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ec02a666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aec02a666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ec02a6662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ec02a6662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aec02a6662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aec02a6662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ec02a6662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ec02a6662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ec02a6662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ec02a6662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ec02a6662_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aec02a6662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aec02a6662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aec02a6662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ec02a6662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ec02a6662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aec02a6662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aec02a6662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aec02a6662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aec02a6662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ec02a6662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ec02a6662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aec02a6662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aec02a6662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86" name="Shape 86"/>
        <p:cNvGrpSpPr/>
        <p:nvPr/>
      </p:nvGrpSpPr>
      <p:grpSpPr>
        <a:xfrm>
          <a:off x="0" y="0"/>
          <a:ext cx="0" cy="0"/>
          <a:chOff x="0" y="0"/>
          <a:chExt cx="0" cy="0"/>
        </a:xfrm>
      </p:grpSpPr>
      <p:sp>
        <p:nvSpPr>
          <p:cNvPr id="87" name="Google Shape;87;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14"/>
          <p:cNvGrpSpPr/>
          <p:nvPr/>
        </p:nvGrpSpPr>
        <p:grpSpPr>
          <a:xfrm>
            <a:off x="830392" y="1191256"/>
            <a:ext cx="745763" cy="45826"/>
            <a:chOff x="4580561" y="2589004"/>
            <a:chExt cx="1064464" cy="25200"/>
          </a:xfrm>
        </p:grpSpPr>
        <p:sp>
          <p:nvSpPr>
            <p:cNvPr id="89" name="Google Shape;89;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1" name="Google Shape;91;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92" name="Google Shape;92;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93" name="Google Shape;93;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94" name="Shape 94"/>
        <p:cNvGrpSpPr/>
        <p:nvPr/>
      </p:nvGrpSpPr>
      <p:grpSpPr>
        <a:xfrm>
          <a:off x="0" y="0"/>
          <a:ext cx="0" cy="0"/>
          <a:chOff x="0" y="0"/>
          <a:chExt cx="0" cy="0"/>
        </a:xfrm>
      </p:grpSpPr>
      <p:grpSp>
        <p:nvGrpSpPr>
          <p:cNvPr id="95" name="Google Shape;95;p15"/>
          <p:cNvGrpSpPr/>
          <p:nvPr/>
        </p:nvGrpSpPr>
        <p:grpSpPr>
          <a:xfrm>
            <a:off x="830392" y="1191256"/>
            <a:ext cx="745763" cy="45826"/>
            <a:chOff x="4580561" y="2589004"/>
            <a:chExt cx="1064464" cy="25200"/>
          </a:xfrm>
        </p:grpSpPr>
        <p:sp>
          <p:nvSpPr>
            <p:cNvPr id="96" name="Google Shape;96;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1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99" name="Google Shape;99;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0" name="Shape 100"/>
        <p:cNvGrpSpPr/>
        <p:nvPr/>
      </p:nvGrpSpPr>
      <p:grpSpPr>
        <a:xfrm>
          <a:off x="0" y="0"/>
          <a:ext cx="0" cy="0"/>
          <a:chOff x="0" y="0"/>
          <a:chExt cx="0" cy="0"/>
        </a:xfrm>
      </p:grpSpPr>
      <p:sp>
        <p:nvSpPr>
          <p:cNvPr id="101" name="Google Shape;101;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6"/>
          <p:cNvGrpSpPr/>
          <p:nvPr/>
        </p:nvGrpSpPr>
        <p:grpSpPr>
          <a:xfrm>
            <a:off x="85392" y="441981"/>
            <a:ext cx="745763" cy="45826"/>
            <a:chOff x="4580561" y="2589004"/>
            <a:chExt cx="1064464" cy="25200"/>
          </a:xfrm>
        </p:grpSpPr>
        <p:sp>
          <p:nvSpPr>
            <p:cNvPr id="103" name="Google Shape;103;p1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6"/>
          <p:cNvSpPr txBox="1"/>
          <p:nvPr>
            <p:ph type="title"/>
          </p:nvPr>
        </p:nvSpPr>
        <p:spPr>
          <a:xfrm>
            <a:off x="-16300" y="-23700"/>
            <a:ext cx="6956700" cy="344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7" name="Google Shape;107;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8" name="Shape 108"/>
        <p:cNvGrpSpPr/>
        <p:nvPr/>
      </p:nvGrpSpPr>
      <p:grpSpPr>
        <a:xfrm>
          <a:off x="0" y="0"/>
          <a:ext cx="0" cy="0"/>
          <a:chOff x="0" y="0"/>
          <a:chExt cx="0" cy="0"/>
        </a:xfrm>
      </p:grpSpPr>
      <p:sp>
        <p:nvSpPr>
          <p:cNvPr id="109" name="Google Shape;109;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 name="Google Shape;110;p17"/>
          <p:cNvGrpSpPr/>
          <p:nvPr/>
        </p:nvGrpSpPr>
        <p:grpSpPr>
          <a:xfrm>
            <a:off x="830392" y="1191256"/>
            <a:ext cx="745763" cy="45826"/>
            <a:chOff x="4580561" y="2589004"/>
            <a:chExt cx="1064464" cy="25200"/>
          </a:xfrm>
        </p:grpSpPr>
        <p:sp>
          <p:nvSpPr>
            <p:cNvPr id="111" name="Google Shape;111;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17"/>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14" name="Google Shape;114;p17"/>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5" name="Google Shape;115;p17"/>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6" name="Google Shape;116;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7" name="Shape 117"/>
        <p:cNvGrpSpPr/>
        <p:nvPr/>
      </p:nvGrpSpPr>
      <p:grpSpPr>
        <a:xfrm>
          <a:off x="0" y="0"/>
          <a:ext cx="0" cy="0"/>
          <a:chOff x="0" y="0"/>
          <a:chExt cx="0" cy="0"/>
        </a:xfrm>
      </p:grpSpPr>
      <p:sp>
        <p:nvSpPr>
          <p:cNvPr id="118" name="Google Shape;118;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18"/>
          <p:cNvGrpSpPr/>
          <p:nvPr/>
        </p:nvGrpSpPr>
        <p:grpSpPr>
          <a:xfrm>
            <a:off x="830392" y="1191256"/>
            <a:ext cx="745763" cy="45826"/>
            <a:chOff x="4580561" y="2589004"/>
            <a:chExt cx="1064464" cy="25200"/>
          </a:xfrm>
        </p:grpSpPr>
        <p:sp>
          <p:nvSpPr>
            <p:cNvPr id="120" name="Google Shape;120;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8"/>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23" name="Google Shape;123;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6" name="Google Shape;126;p19"/>
          <p:cNvGrpSpPr/>
          <p:nvPr/>
        </p:nvGrpSpPr>
        <p:grpSpPr>
          <a:xfrm>
            <a:off x="830392" y="1191256"/>
            <a:ext cx="745763" cy="45826"/>
            <a:chOff x="4580561" y="2589004"/>
            <a:chExt cx="1064464" cy="25200"/>
          </a:xfrm>
        </p:grpSpPr>
        <p:sp>
          <p:nvSpPr>
            <p:cNvPr id="127" name="Google Shape;127;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9"/>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30" name="Google Shape;130;p19"/>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1" name="Google Shape;131;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2" name="Shape 132"/>
        <p:cNvGrpSpPr/>
        <p:nvPr/>
      </p:nvGrpSpPr>
      <p:grpSpPr>
        <a:xfrm>
          <a:off x="0" y="0"/>
          <a:ext cx="0" cy="0"/>
          <a:chOff x="0" y="0"/>
          <a:chExt cx="0" cy="0"/>
        </a:xfrm>
      </p:grpSpPr>
      <p:grpSp>
        <p:nvGrpSpPr>
          <p:cNvPr id="133" name="Google Shape;133;p20"/>
          <p:cNvGrpSpPr/>
          <p:nvPr/>
        </p:nvGrpSpPr>
        <p:grpSpPr>
          <a:xfrm>
            <a:off x="830392" y="4169130"/>
            <a:ext cx="745763" cy="45826"/>
            <a:chOff x="4580561" y="2589004"/>
            <a:chExt cx="1064464" cy="25200"/>
          </a:xfrm>
        </p:grpSpPr>
        <p:sp>
          <p:nvSpPr>
            <p:cNvPr id="134" name="Google Shape;134;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37" name="Google Shape;137;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8" name="Shape 138"/>
        <p:cNvGrpSpPr/>
        <p:nvPr/>
      </p:nvGrpSpPr>
      <p:grpSpPr>
        <a:xfrm>
          <a:off x="0" y="0"/>
          <a:ext cx="0" cy="0"/>
          <a:chOff x="0" y="0"/>
          <a:chExt cx="0" cy="0"/>
        </a:xfrm>
      </p:grpSpPr>
      <p:sp>
        <p:nvSpPr>
          <p:cNvPr id="139" name="Google Shape;139;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21"/>
          <p:cNvGrpSpPr/>
          <p:nvPr/>
        </p:nvGrpSpPr>
        <p:grpSpPr>
          <a:xfrm>
            <a:off x="830392" y="1191256"/>
            <a:ext cx="745763" cy="45826"/>
            <a:chOff x="4580561" y="2589004"/>
            <a:chExt cx="1064464" cy="25200"/>
          </a:xfrm>
        </p:grpSpPr>
        <p:sp>
          <p:nvSpPr>
            <p:cNvPr id="141" name="Google Shape;141;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21"/>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44" name="Google Shape;144;p21"/>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45" name="Google Shape;145;p21"/>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6" name="Google Shape;146;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7" name="Shape 147"/>
        <p:cNvGrpSpPr/>
        <p:nvPr/>
      </p:nvGrpSpPr>
      <p:grpSpPr>
        <a:xfrm>
          <a:off x="0" y="0"/>
          <a:ext cx="0" cy="0"/>
          <a:chOff x="0" y="0"/>
          <a:chExt cx="0" cy="0"/>
        </a:xfrm>
      </p:grpSpPr>
      <p:sp>
        <p:nvSpPr>
          <p:cNvPr id="148" name="Google Shape;148;p22"/>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50" name="Shape 150"/>
        <p:cNvGrpSpPr/>
        <p:nvPr/>
      </p:nvGrpSpPr>
      <p:grpSpPr>
        <a:xfrm>
          <a:off x="0" y="0"/>
          <a:ext cx="0" cy="0"/>
          <a:chOff x="0" y="0"/>
          <a:chExt cx="0" cy="0"/>
        </a:xfrm>
      </p:grpSpPr>
      <p:grpSp>
        <p:nvGrpSpPr>
          <p:cNvPr id="151" name="Google Shape;151;p23"/>
          <p:cNvGrpSpPr/>
          <p:nvPr/>
        </p:nvGrpSpPr>
        <p:grpSpPr>
          <a:xfrm>
            <a:off x="830392" y="4169130"/>
            <a:ext cx="745763" cy="45826"/>
            <a:chOff x="4580561" y="2589004"/>
            <a:chExt cx="1064464" cy="25200"/>
          </a:xfrm>
        </p:grpSpPr>
        <p:sp>
          <p:nvSpPr>
            <p:cNvPr id="152" name="Google Shape;152;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155" name="Google Shape;155;p23"/>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156" name="Google Shape;156;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7" name="Shape 157"/>
        <p:cNvGrpSpPr/>
        <p:nvPr/>
      </p:nvGrpSpPr>
      <p:grpSpPr>
        <a:xfrm>
          <a:off x="0" y="0"/>
          <a:ext cx="0" cy="0"/>
          <a:chOff x="0" y="0"/>
          <a:chExt cx="0" cy="0"/>
        </a:xfrm>
      </p:grpSpPr>
      <p:sp>
        <p:nvSpPr>
          <p:cNvPr id="158" name="Google Shape;158;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82" name="Shape 82"/>
        <p:cNvGrpSpPr/>
        <p:nvPr/>
      </p:nvGrpSpPr>
      <p:grpSpPr>
        <a:xfrm>
          <a:off x="0" y="0"/>
          <a:ext cx="0" cy="0"/>
          <a:chOff x="0" y="0"/>
          <a:chExt cx="0" cy="0"/>
        </a:xfrm>
      </p:grpSpPr>
      <p:sp>
        <p:nvSpPr>
          <p:cNvPr id="83" name="Google Shape;8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84" name="Google Shape;84;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5" name="Google Shape;85;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Clasificaci</a:t>
            </a:r>
            <a:r>
              <a:rPr lang="es"/>
              <a:t>ón de Cáncer de Pulmón mediante visión por computadora en tomografías</a:t>
            </a:r>
            <a:endParaRPr/>
          </a:p>
        </p:txBody>
      </p:sp>
      <p:sp>
        <p:nvSpPr>
          <p:cNvPr id="164" name="Google Shape;164;p25"/>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Trabajo Final para la materia Visi</a:t>
            </a:r>
            <a:r>
              <a:rPr lang="es"/>
              <a:t>ón por Computadora II</a:t>
            </a:r>
            <a:endParaRPr/>
          </a:p>
        </p:txBody>
      </p:sp>
      <p:sp>
        <p:nvSpPr>
          <p:cNvPr id="165" name="Google Shape;165;p25"/>
          <p:cNvSpPr txBox="1"/>
          <p:nvPr>
            <p:ph idx="1" type="subTitle"/>
          </p:nvPr>
        </p:nvSpPr>
        <p:spPr>
          <a:xfrm>
            <a:off x="797050" y="3714100"/>
            <a:ext cx="7688100" cy="1199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CEIA-UBA</a:t>
            </a:r>
            <a:endParaRPr/>
          </a:p>
          <a:p>
            <a:pPr indent="0" lvl="0" marL="0" rtl="0" algn="ctr">
              <a:spcBef>
                <a:spcPts val="0"/>
              </a:spcBef>
              <a:spcAft>
                <a:spcPts val="0"/>
              </a:spcAft>
              <a:buNone/>
            </a:pPr>
            <a:r>
              <a:rPr lang="es"/>
              <a:t>Agust</a:t>
            </a:r>
            <a:r>
              <a:rPr lang="es"/>
              <a:t>ín Antonio López Fredes</a:t>
            </a:r>
            <a:endParaRPr/>
          </a:p>
          <a:p>
            <a:pPr indent="0" lvl="0" marL="0" rtl="0" algn="ctr">
              <a:spcBef>
                <a:spcPts val="0"/>
              </a:spcBef>
              <a:spcAft>
                <a:spcPts val="0"/>
              </a:spcAft>
              <a:buNone/>
            </a:pPr>
            <a:r>
              <a:rPr lang="es"/>
              <a:t>Natalia Espector</a:t>
            </a:r>
            <a:endParaRPr/>
          </a:p>
        </p:txBody>
      </p:sp>
      <p:pic>
        <p:nvPicPr>
          <p:cNvPr id="166" name="Google Shape;166;p25"/>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Objetivo</a:t>
            </a:r>
            <a:endParaRPr/>
          </a:p>
        </p:txBody>
      </p:sp>
      <p:sp>
        <p:nvSpPr>
          <p:cNvPr id="172" name="Google Shape;172;p26"/>
          <p:cNvSpPr txBox="1"/>
          <p:nvPr>
            <p:ph idx="1" type="body"/>
          </p:nvPr>
        </p:nvSpPr>
        <p:spPr>
          <a:xfrm>
            <a:off x="307075" y="1646700"/>
            <a:ext cx="4368300" cy="18501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s" sz="1800"/>
              <a:t>Desarrollar un modelo de Deep Learning para clasificar imágenes de CT de tórax en 4 categorías críticas para el diagnóstico clínico.</a:t>
            </a:r>
            <a:endParaRPr sz="1800"/>
          </a:p>
        </p:txBody>
      </p:sp>
      <p:sp>
        <p:nvSpPr>
          <p:cNvPr id="173" name="Google Shape;173;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74" name="Google Shape;174;p26"/>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175" name="Google Shape;175;p26"/>
          <p:cNvPicPr preferRelativeResize="0"/>
          <p:nvPr/>
        </p:nvPicPr>
        <p:blipFill>
          <a:blip r:embed="rId4">
            <a:alphaModFix/>
          </a:blip>
          <a:stretch>
            <a:fillRect/>
          </a:stretch>
        </p:blipFill>
        <p:spPr>
          <a:xfrm>
            <a:off x="4928775" y="1024526"/>
            <a:ext cx="4156225" cy="346544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EDA</a:t>
            </a:r>
            <a:endParaRPr/>
          </a:p>
        </p:txBody>
      </p:sp>
      <p:sp>
        <p:nvSpPr>
          <p:cNvPr id="181" name="Google Shape;181;p27"/>
          <p:cNvSpPr txBox="1"/>
          <p:nvPr>
            <p:ph idx="1" type="body"/>
          </p:nvPr>
        </p:nvSpPr>
        <p:spPr>
          <a:xfrm>
            <a:off x="460775" y="764650"/>
            <a:ext cx="8206500" cy="37953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s" sz="1800"/>
              <a:t>El Análisis Exploratorio de Datos (EDA), realizado sobre las 1000 imágenes del dataset original, reveló problemas críticos que comprometían la integridad del modelo:</a:t>
            </a:r>
            <a:endParaRPr sz="1800"/>
          </a:p>
          <a:p>
            <a:pPr indent="-334327" lvl="0" marL="457200" rtl="0" algn="l">
              <a:lnSpc>
                <a:spcPct val="150000"/>
              </a:lnSpc>
              <a:spcBef>
                <a:spcPts val="1200"/>
              </a:spcBef>
              <a:spcAft>
                <a:spcPts val="0"/>
              </a:spcAft>
              <a:buSzPct val="100000"/>
              <a:buAutoNum type="arabicPeriod"/>
            </a:pPr>
            <a:r>
              <a:rPr lang="es" sz="1800"/>
              <a:t>Imágenes duplicadas</a:t>
            </a:r>
            <a:endParaRPr sz="1800"/>
          </a:p>
          <a:p>
            <a:pPr indent="-334327" lvl="0" marL="457200" rtl="0" algn="l">
              <a:lnSpc>
                <a:spcPct val="150000"/>
              </a:lnSpc>
              <a:spcBef>
                <a:spcPts val="0"/>
              </a:spcBef>
              <a:spcAft>
                <a:spcPts val="0"/>
              </a:spcAft>
              <a:buSzPct val="100000"/>
              <a:buAutoNum type="arabicPeriod"/>
            </a:pPr>
            <a:r>
              <a:rPr lang="es" sz="1800"/>
              <a:t>Variabilidad en la intensidad</a:t>
            </a:r>
            <a:endParaRPr sz="1800"/>
          </a:p>
          <a:p>
            <a:pPr indent="-334327" lvl="0" marL="457200" rtl="0" algn="l">
              <a:lnSpc>
                <a:spcPct val="150000"/>
              </a:lnSpc>
              <a:spcBef>
                <a:spcPts val="0"/>
              </a:spcBef>
              <a:spcAft>
                <a:spcPts val="0"/>
              </a:spcAft>
              <a:buSzPct val="100000"/>
              <a:buAutoNum type="arabicPeriod"/>
            </a:pPr>
            <a:r>
              <a:rPr lang="es" sz="1800"/>
              <a:t>Variabilidad de tamaño </a:t>
            </a:r>
            <a:endParaRPr sz="1800"/>
          </a:p>
          <a:p>
            <a:pPr indent="0" lvl="0" marL="0" rtl="0" algn="l">
              <a:lnSpc>
                <a:spcPct val="150000"/>
              </a:lnSpc>
              <a:spcBef>
                <a:spcPts val="1200"/>
              </a:spcBef>
              <a:spcAft>
                <a:spcPts val="0"/>
              </a:spcAft>
              <a:buNone/>
            </a:pPr>
            <a:r>
              <a:t/>
            </a:r>
            <a:endParaRPr b="1" sz="1800"/>
          </a:p>
          <a:p>
            <a:pPr indent="0" lvl="0" marL="0" rtl="0" algn="l">
              <a:lnSpc>
                <a:spcPct val="150000"/>
              </a:lnSpc>
              <a:spcBef>
                <a:spcPts val="1200"/>
              </a:spcBef>
              <a:spcAft>
                <a:spcPts val="0"/>
              </a:spcAft>
              <a:buNone/>
            </a:pPr>
            <a:r>
              <a:rPr b="1" lang="es" sz="1800"/>
              <a:t>Imágenes duplicadas:</a:t>
            </a:r>
            <a:endParaRPr b="1" sz="1800"/>
          </a:p>
          <a:p>
            <a:pPr indent="0" lvl="0" marL="0" rtl="0" algn="l">
              <a:spcBef>
                <a:spcPts val="1200"/>
              </a:spcBef>
              <a:spcAft>
                <a:spcPts val="1200"/>
              </a:spcAft>
              <a:buNone/>
            </a:pPr>
            <a:r>
              <a:rPr lang="es" sz="1800"/>
              <a:t>Utilizando hash MD5, se detectaron 59 conjuntos de imágenes duplicadas (153 en total). Las mismas se encontraban repartidas entre los conjuntos de entrenamiento, validación y test, generando data leakage.</a:t>
            </a:r>
            <a:endParaRPr sz="1800"/>
          </a:p>
        </p:txBody>
      </p:sp>
      <p:sp>
        <p:nvSpPr>
          <p:cNvPr id="182" name="Google Shape;182;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83" name="Google Shape;183;p27"/>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8"/>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EDA - Intensidad de im</a:t>
            </a:r>
            <a:r>
              <a:rPr lang="es"/>
              <a:t>ágenes</a:t>
            </a:r>
            <a:endParaRPr/>
          </a:p>
        </p:txBody>
      </p:sp>
      <p:sp>
        <p:nvSpPr>
          <p:cNvPr id="189" name="Google Shape;189;p28"/>
          <p:cNvSpPr txBox="1"/>
          <p:nvPr>
            <p:ph idx="1" type="body"/>
          </p:nvPr>
        </p:nvSpPr>
        <p:spPr>
          <a:xfrm>
            <a:off x="483825" y="1324800"/>
            <a:ext cx="3930300" cy="2493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800"/>
              <a:t>Mediante el análisis de la intensidad de las imágenes (canal V de HSV), se detectó que hay variabilidad entre las distintas clases. Dado que no tiene relación con el tipo de cáncer, se </a:t>
            </a:r>
            <a:r>
              <a:rPr lang="es" sz="1800"/>
              <a:t>normalizaron</a:t>
            </a:r>
            <a:r>
              <a:rPr lang="es" sz="1800"/>
              <a:t> las imágenes, para que no aprenda esta correlación.</a:t>
            </a:r>
            <a:endParaRPr sz="1800"/>
          </a:p>
        </p:txBody>
      </p:sp>
      <p:sp>
        <p:nvSpPr>
          <p:cNvPr id="190" name="Google Shape;190;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91" name="Google Shape;191;p28"/>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192" name="Google Shape;192;p28"/>
          <p:cNvPicPr preferRelativeResize="0"/>
          <p:nvPr/>
        </p:nvPicPr>
        <p:blipFill>
          <a:blip r:embed="rId4">
            <a:alphaModFix/>
          </a:blip>
          <a:stretch>
            <a:fillRect/>
          </a:stretch>
        </p:blipFill>
        <p:spPr>
          <a:xfrm>
            <a:off x="5220274" y="819825"/>
            <a:ext cx="3516700" cy="3342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EDA - Tamaño de im</a:t>
            </a:r>
            <a:r>
              <a:rPr lang="es"/>
              <a:t>ágenes</a:t>
            </a:r>
            <a:endParaRPr/>
          </a:p>
        </p:txBody>
      </p:sp>
      <p:sp>
        <p:nvSpPr>
          <p:cNvPr id="198" name="Google Shape;198;p29"/>
          <p:cNvSpPr txBox="1"/>
          <p:nvPr>
            <p:ph idx="1" type="body"/>
          </p:nvPr>
        </p:nvSpPr>
        <p:spPr>
          <a:xfrm>
            <a:off x="460775" y="764650"/>
            <a:ext cx="8206500" cy="1031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sz="1800"/>
              <a:t>Se observa una variabilidad en el alto y ancho de las imágenes, por lo que se realizó un resize a 224x224 (tamaño estándar de las redes a utilizar).</a:t>
            </a:r>
            <a:endParaRPr sz="1800"/>
          </a:p>
        </p:txBody>
      </p:sp>
      <p:sp>
        <p:nvSpPr>
          <p:cNvPr id="199" name="Google Shape;199;p2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200" name="Google Shape;200;p29"/>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201" name="Google Shape;201;p29"/>
          <p:cNvPicPr preferRelativeResize="0"/>
          <p:nvPr/>
        </p:nvPicPr>
        <p:blipFill>
          <a:blip r:embed="rId4">
            <a:alphaModFix/>
          </a:blip>
          <a:stretch>
            <a:fillRect/>
          </a:stretch>
        </p:blipFill>
        <p:spPr>
          <a:xfrm>
            <a:off x="582300" y="1895000"/>
            <a:ext cx="8177145" cy="3042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idx="1" type="body"/>
          </p:nvPr>
        </p:nvSpPr>
        <p:spPr>
          <a:xfrm>
            <a:off x="460775" y="764650"/>
            <a:ext cx="8206500" cy="3985200"/>
          </a:xfrm>
          <a:prstGeom prst="rect">
            <a:avLst/>
          </a:prstGeom>
        </p:spPr>
        <p:txBody>
          <a:bodyPr anchorCtr="0" anchor="t" bIns="91425" lIns="91425" spcFirstLastPara="1" rIns="91425" wrap="square" tIns="91425">
            <a:normAutofit lnSpcReduction="10000"/>
          </a:bodyPr>
          <a:lstStyle/>
          <a:p>
            <a:pPr indent="0" lvl="0" marL="0" rtl="0" algn="just">
              <a:lnSpc>
                <a:spcPct val="150000"/>
              </a:lnSpc>
              <a:spcBef>
                <a:spcPts val="0"/>
              </a:spcBef>
              <a:spcAft>
                <a:spcPts val="0"/>
              </a:spcAft>
              <a:buNone/>
            </a:pPr>
            <a:r>
              <a:rPr lang="es" sz="1800"/>
              <a:t>Para garantizar la validez de los resultados, se realizó un </a:t>
            </a:r>
            <a:r>
              <a:rPr b="1" lang="es" sz="1800"/>
              <a:t>preprocesamiento</a:t>
            </a:r>
            <a:r>
              <a:rPr lang="es" sz="1800"/>
              <a:t> del dataset, que consistió en:</a:t>
            </a:r>
            <a:endParaRPr sz="1800"/>
          </a:p>
          <a:p>
            <a:pPr indent="-342900" lvl="0" marL="457200" rtl="0" algn="just">
              <a:lnSpc>
                <a:spcPct val="150000"/>
              </a:lnSpc>
              <a:spcBef>
                <a:spcPts val="1200"/>
              </a:spcBef>
              <a:spcAft>
                <a:spcPts val="0"/>
              </a:spcAft>
              <a:buSzPts val="1800"/>
              <a:buAutoNum type="arabicPeriod"/>
            </a:pPr>
            <a:r>
              <a:rPr b="1" lang="es" sz="1800"/>
              <a:t>Detección: </a:t>
            </a:r>
            <a:r>
              <a:rPr lang="es" sz="1800"/>
              <a:t>se utilizó hash MD5 para identificar duplicados exactos.</a:t>
            </a:r>
            <a:endParaRPr sz="1800"/>
          </a:p>
          <a:p>
            <a:pPr indent="-342900" lvl="0" marL="457200" rtl="0" algn="just">
              <a:lnSpc>
                <a:spcPct val="150000"/>
              </a:lnSpc>
              <a:spcBef>
                <a:spcPts val="0"/>
              </a:spcBef>
              <a:spcAft>
                <a:spcPts val="0"/>
              </a:spcAft>
              <a:buSzPts val="1800"/>
              <a:buAutoNum type="arabicPeriod"/>
            </a:pPr>
            <a:r>
              <a:rPr b="1" lang="es" sz="1800"/>
              <a:t>Eliminación:</a:t>
            </a:r>
            <a:r>
              <a:rPr lang="es" sz="1800"/>
              <a:t> se conservó una única copia de cada imagen duplicada.</a:t>
            </a:r>
            <a:endParaRPr sz="1800"/>
          </a:p>
          <a:p>
            <a:pPr indent="-342900" lvl="0" marL="457200" rtl="0" algn="just">
              <a:lnSpc>
                <a:spcPct val="150000"/>
              </a:lnSpc>
              <a:spcBef>
                <a:spcPts val="0"/>
              </a:spcBef>
              <a:spcAft>
                <a:spcPts val="0"/>
              </a:spcAft>
              <a:buSzPts val="1800"/>
              <a:buAutoNum type="arabicPeriod"/>
            </a:pPr>
            <a:r>
              <a:rPr b="1" lang="es" sz="1800"/>
              <a:t>Reorganización:</a:t>
            </a:r>
            <a:r>
              <a:rPr lang="es" sz="1800"/>
              <a:t> se unificó el dataset y se generó un nuevo split estratificado (70% train / 15% valid / 15% test).</a:t>
            </a:r>
            <a:endParaRPr sz="1800"/>
          </a:p>
          <a:p>
            <a:pPr indent="0" lvl="0" marL="0" rtl="0" algn="just">
              <a:spcBef>
                <a:spcPts val="1200"/>
              </a:spcBef>
              <a:spcAft>
                <a:spcPts val="0"/>
              </a:spcAft>
              <a:buNone/>
            </a:pPr>
            <a:r>
              <a:t/>
            </a:r>
            <a:endParaRPr b="1" sz="1400">
              <a:solidFill>
                <a:srgbClr val="000000"/>
              </a:solidFill>
            </a:endParaRPr>
          </a:p>
          <a:p>
            <a:pPr indent="0" lvl="0" marL="0" rtl="0" algn="just">
              <a:lnSpc>
                <a:spcPct val="100000"/>
              </a:lnSpc>
              <a:spcBef>
                <a:spcPts val="1200"/>
              </a:spcBef>
              <a:spcAft>
                <a:spcPts val="0"/>
              </a:spcAft>
              <a:buNone/>
            </a:pPr>
            <a:r>
              <a:t/>
            </a:r>
            <a:endParaRPr sz="1400">
              <a:solidFill>
                <a:srgbClr val="000000"/>
              </a:solidFill>
            </a:endParaRPr>
          </a:p>
          <a:p>
            <a:pPr indent="0" lvl="0" marL="0" rtl="0" algn="just">
              <a:lnSpc>
                <a:spcPct val="100000"/>
              </a:lnSpc>
              <a:spcBef>
                <a:spcPts val="0"/>
              </a:spcBef>
              <a:spcAft>
                <a:spcPts val="0"/>
              </a:spcAft>
              <a:buNone/>
            </a:pPr>
            <a:r>
              <a:t/>
            </a:r>
            <a:endParaRPr i="1" sz="1400">
              <a:solidFill>
                <a:srgbClr val="000000"/>
              </a:solidFill>
            </a:endParaRPr>
          </a:p>
          <a:p>
            <a:pPr indent="0" lvl="0" marL="0" rtl="0" algn="just">
              <a:spcBef>
                <a:spcPts val="0"/>
              </a:spcBef>
              <a:spcAft>
                <a:spcPts val="1200"/>
              </a:spcAft>
              <a:buNone/>
            </a:pPr>
            <a:r>
              <a:t/>
            </a:r>
            <a:endParaRPr b="1" sz="1800" u="sng"/>
          </a:p>
        </p:txBody>
      </p:sp>
      <p:sp>
        <p:nvSpPr>
          <p:cNvPr id="207" name="Google Shape;207;p3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08" name="Google Shape;208;p30"/>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Preprocesamiento de datos</a:t>
            </a:r>
            <a:endParaRPr/>
          </a:p>
        </p:txBody>
      </p:sp>
      <p:pic>
        <p:nvPicPr>
          <p:cNvPr id="209" name="Google Shape;209;p30"/>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grpSp>
        <p:nvGrpSpPr>
          <p:cNvPr id="210" name="Google Shape;210;p30"/>
          <p:cNvGrpSpPr/>
          <p:nvPr/>
        </p:nvGrpSpPr>
        <p:grpSpPr>
          <a:xfrm>
            <a:off x="1834775" y="3723067"/>
            <a:ext cx="5458499" cy="867300"/>
            <a:chOff x="1435400" y="3618400"/>
            <a:chExt cx="5458499" cy="867300"/>
          </a:xfrm>
        </p:grpSpPr>
        <p:sp>
          <p:nvSpPr>
            <p:cNvPr id="211" name="Google Shape;211;p30"/>
            <p:cNvSpPr/>
            <p:nvPr/>
          </p:nvSpPr>
          <p:spPr>
            <a:xfrm>
              <a:off x="1435400" y="3618400"/>
              <a:ext cx="1809300" cy="86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Lato"/>
                  <a:ea typeface="Lato"/>
                  <a:cs typeface="Lato"/>
                  <a:sym typeface="Lato"/>
                </a:rPr>
                <a:t>Dataset Original</a:t>
              </a:r>
              <a:endParaRPr b="1">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rPr i="1" lang="es">
                  <a:latin typeface="Lato"/>
                  <a:ea typeface="Lato"/>
                  <a:cs typeface="Lato"/>
                  <a:sym typeface="Lato"/>
                </a:rPr>
                <a:t>1000 imágenes</a:t>
              </a:r>
              <a:endParaRPr i="1">
                <a:latin typeface="Lato"/>
                <a:ea typeface="Lato"/>
                <a:cs typeface="Lato"/>
                <a:sym typeface="Lato"/>
              </a:endParaRPr>
            </a:p>
          </p:txBody>
        </p:sp>
        <p:sp>
          <p:nvSpPr>
            <p:cNvPr id="212" name="Google Shape;212;p30"/>
            <p:cNvSpPr/>
            <p:nvPr/>
          </p:nvSpPr>
          <p:spPr>
            <a:xfrm>
              <a:off x="5049199" y="3618400"/>
              <a:ext cx="1844700" cy="86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a:latin typeface="Lato"/>
                  <a:ea typeface="Lato"/>
                  <a:cs typeface="Lato"/>
                  <a:sym typeface="Lato"/>
                </a:rPr>
                <a:t>Data_Clean</a:t>
              </a:r>
              <a:endParaRPr b="1">
                <a:latin typeface="Lato"/>
                <a:ea typeface="Lato"/>
                <a:cs typeface="Lato"/>
                <a:sym typeface="Lato"/>
              </a:endParaRPr>
            </a:p>
            <a:p>
              <a:pPr indent="0" lvl="0" marL="0" rtl="0" algn="ctr">
                <a:spcBef>
                  <a:spcPts val="0"/>
                </a:spcBef>
                <a:spcAft>
                  <a:spcPts val="0"/>
                </a:spcAft>
                <a:buNone/>
              </a:pPr>
              <a:r>
                <a:t/>
              </a:r>
              <a:endParaRPr>
                <a:latin typeface="Lato"/>
                <a:ea typeface="Lato"/>
                <a:cs typeface="Lato"/>
                <a:sym typeface="Lato"/>
              </a:endParaRPr>
            </a:p>
            <a:p>
              <a:pPr indent="0" lvl="0" marL="0" rtl="0" algn="ctr">
                <a:spcBef>
                  <a:spcPts val="0"/>
                </a:spcBef>
                <a:spcAft>
                  <a:spcPts val="0"/>
                </a:spcAft>
                <a:buNone/>
              </a:pPr>
              <a:r>
                <a:rPr i="1" lang="es">
                  <a:latin typeface="Lato"/>
                  <a:ea typeface="Lato"/>
                  <a:cs typeface="Lato"/>
                  <a:sym typeface="Lato"/>
                </a:rPr>
                <a:t>847</a:t>
              </a:r>
              <a:r>
                <a:rPr i="1" lang="es">
                  <a:latin typeface="Lato"/>
                  <a:ea typeface="Lato"/>
                  <a:cs typeface="Lato"/>
                  <a:sym typeface="Lato"/>
                </a:rPr>
                <a:t> imágenes únicas</a:t>
              </a:r>
              <a:endParaRPr i="1">
                <a:latin typeface="Lato"/>
                <a:ea typeface="Lato"/>
                <a:cs typeface="Lato"/>
                <a:sym typeface="Lato"/>
              </a:endParaRPr>
            </a:p>
          </p:txBody>
        </p:sp>
        <p:sp>
          <p:nvSpPr>
            <p:cNvPr id="213" name="Google Shape;213;p30"/>
            <p:cNvSpPr/>
            <p:nvPr/>
          </p:nvSpPr>
          <p:spPr>
            <a:xfrm>
              <a:off x="3324625" y="3951100"/>
              <a:ext cx="1652100" cy="201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4" name="Google Shape;214;p30"/>
            <p:cNvSpPr txBox="1"/>
            <p:nvPr/>
          </p:nvSpPr>
          <p:spPr>
            <a:xfrm>
              <a:off x="3339577" y="3678188"/>
              <a:ext cx="1573800" cy="31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1200">
                  <a:solidFill>
                    <a:schemeClr val="accent1"/>
                  </a:solidFill>
                  <a:latin typeface="Lato"/>
                  <a:ea typeface="Lato"/>
                  <a:cs typeface="Lato"/>
                  <a:sym typeface="Lato"/>
                </a:rPr>
                <a:t>Proceso de limpieza</a:t>
              </a:r>
              <a:endParaRPr sz="1200">
                <a:solidFill>
                  <a:schemeClr val="accent1"/>
                </a:solidFill>
                <a:latin typeface="Lato"/>
                <a:ea typeface="Lato"/>
                <a:cs typeface="Lato"/>
                <a:sym typeface="Lato"/>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1"/>
          <p:cNvSpPr txBox="1"/>
          <p:nvPr>
            <p:ph idx="1" type="body"/>
          </p:nvPr>
        </p:nvSpPr>
        <p:spPr>
          <a:xfrm>
            <a:off x="460775" y="764650"/>
            <a:ext cx="6783600" cy="12615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s" sz="1600"/>
              <a:t>En base al EDA, se aplicaron diversas </a:t>
            </a:r>
            <a:r>
              <a:rPr b="1" lang="es" sz="1600"/>
              <a:t>transformaciones y técnicas de data augmentation</a:t>
            </a:r>
            <a:r>
              <a:rPr lang="es" sz="1600"/>
              <a:t> p</a:t>
            </a:r>
            <a:r>
              <a:rPr lang="es" sz="1600"/>
              <a:t>ara mejorar la calidad del dataset, mitigar el desbalance de clases y aumentar la capacidad de generalización del modelo:</a:t>
            </a:r>
            <a:endParaRPr b="1" sz="1366" u="sng"/>
          </a:p>
        </p:txBody>
      </p:sp>
      <p:sp>
        <p:nvSpPr>
          <p:cNvPr id="220" name="Google Shape;220;p3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21" name="Google Shape;221;p31"/>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Transformaciones - Data Augmentation</a:t>
            </a:r>
            <a:endParaRPr/>
          </a:p>
        </p:txBody>
      </p:sp>
      <p:pic>
        <p:nvPicPr>
          <p:cNvPr id="222" name="Google Shape;222;p31"/>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sp>
        <p:nvSpPr>
          <p:cNvPr id="223" name="Google Shape;223;p31"/>
          <p:cNvSpPr txBox="1"/>
          <p:nvPr/>
        </p:nvSpPr>
        <p:spPr>
          <a:xfrm>
            <a:off x="460775" y="2119078"/>
            <a:ext cx="7912500" cy="2602800"/>
          </a:xfrm>
          <a:prstGeom prst="rect">
            <a:avLst/>
          </a:prstGeom>
          <a:noFill/>
          <a:ln>
            <a:noFill/>
          </a:ln>
        </p:spPr>
        <p:txBody>
          <a:bodyPr anchorCtr="0" anchor="t" bIns="91425" lIns="91425" spcFirstLastPara="1" rIns="91425" wrap="square" tIns="91425">
            <a:spAutoFit/>
          </a:bodyPr>
          <a:lstStyle/>
          <a:p>
            <a:pPr indent="-315349" lvl="0" marL="457200" rtl="0" algn="just">
              <a:lnSpc>
                <a:spcPct val="150000"/>
              </a:lnSpc>
              <a:spcBef>
                <a:spcPts val="0"/>
              </a:spcBef>
              <a:spcAft>
                <a:spcPts val="0"/>
              </a:spcAft>
              <a:buClr>
                <a:schemeClr val="accent1"/>
              </a:buClr>
              <a:buSzPts val="1366"/>
              <a:buFont typeface="Lato"/>
              <a:buAutoNum type="arabicPeriod"/>
            </a:pPr>
            <a:r>
              <a:rPr lang="es" sz="1366">
                <a:solidFill>
                  <a:schemeClr val="accent1"/>
                </a:solidFill>
                <a:latin typeface="Lato"/>
                <a:ea typeface="Lato"/>
                <a:cs typeface="Lato"/>
                <a:sym typeface="Lato"/>
              </a:rPr>
              <a:t>Conversión a </a:t>
            </a:r>
            <a:r>
              <a:rPr b="1" lang="es" sz="1366">
                <a:solidFill>
                  <a:schemeClr val="accent1"/>
                </a:solidFill>
                <a:latin typeface="Lato"/>
                <a:ea typeface="Lato"/>
                <a:cs typeface="Lato"/>
                <a:sym typeface="Lato"/>
              </a:rPr>
              <a:t>escala de grises</a:t>
            </a:r>
            <a:r>
              <a:rPr lang="es" sz="1366">
                <a:solidFill>
                  <a:schemeClr val="accent1"/>
                </a:solidFill>
                <a:latin typeface="Lato"/>
                <a:ea typeface="Lato"/>
                <a:cs typeface="Lato"/>
                <a:sym typeface="Lato"/>
              </a:rPr>
              <a:t>, acorde a la naturaleza de las imágenes de CT.</a:t>
            </a:r>
            <a:endParaRPr sz="1366">
              <a:solidFill>
                <a:schemeClr val="accent1"/>
              </a:solidFill>
              <a:latin typeface="Lato"/>
              <a:ea typeface="Lato"/>
              <a:cs typeface="Lato"/>
              <a:sym typeface="Lato"/>
            </a:endParaRPr>
          </a:p>
          <a:p>
            <a:pPr indent="-315349" lvl="0" marL="457200" rtl="0" algn="just">
              <a:lnSpc>
                <a:spcPct val="150000"/>
              </a:lnSpc>
              <a:spcBef>
                <a:spcPts val="0"/>
              </a:spcBef>
              <a:spcAft>
                <a:spcPts val="0"/>
              </a:spcAft>
              <a:buClr>
                <a:schemeClr val="accent1"/>
              </a:buClr>
              <a:buSzPts val="1366"/>
              <a:buFont typeface="Lato"/>
              <a:buAutoNum type="arabicPeriod"/>
            </a:pPr>
            <a:r>
              <a:rPr lang="es" sz="1366">
                <a:solidFill>
                  <a:schemeClr val="accent1"/>
                </a:solidFill>
                <a:latin typeface="Lato"/>
                <a:ea typeface="Lato"/>
                <a:cs typeface="Lato"/>
                <a:sym typeface="Lato"/>
              </a:rPr>
              <a:t>Unificación del </a:t>
            </a:r>
            <a:r>
              <a:rPr b="1" lang="es" sz="1366">
                <a:solidFill>
                  <a:schemeClr val="accent1"/>
                </a:solidFill>
                <a:latin typeface="Lato"/>
                <a:ea typeface="Lato"/>
                <a:cs typeface="Lato"/>
                <a:sym typeface="Lato"/>
              </a:rPr>
              <a:t>tamaño de imagen</a:t>
            </a:r>
            <a:r>
              <a:rPr lang="es" sz="1366">
                <a:solidFill>
                  <a:schemeClr val="accent1"/>
                </a:solidFill>
                <a:latin typeface="Lato"/>
                <a:ea typeface="Lato"/>
                <a:cs typeface="Lato"/>
                <a:sym typeface="Lato"/>
              </a:rPr>
              <a:t> y uso de </a:t>
            </a:r>
            <a:r>
              <a:rPr b="1" lang="es" sz="1366">
                <a:solidFill>
                  <a:schemeClr val="accent1"/>
                </a:solidFill>
                <a:latin typeface="Lato"/>
                <a:ea typeface="Lato"/>
                <a:cs typeface="Lato"/>
                <a:sym typeface="Lato"/>
              </a:rPr>
              <a:t>formatos cuadrados </a:t>
            </a:r>
            <a:r>
              <a:rPr lang="es" sz="1366">
                <a:solidFill>
                  <a:schemeClr val="accent1"/>
                </a:solidFill>
                <a:latin typeface="Lato"/>
                <a:ea typeface="Lato"/>
                <a:cs typeface="Lato"/>
                <a:sym typeface="Lato"/>
              </a:rPr>
              <a:t>(224x224).</a:t>
            </a:r>
            <a:endParaRPr sz="1366">
              <a:solidFill>
                <a:schemeClr val="accent1"/>
              </a:solidFill>
              <a:latin typeface="Lato"/>
              <a:ea typeface="Lato"/>
              <a:cs typeface="Lato"/>
              <a:sym typeface="Lato"/>
            </a:endParaRPr>
          </a:p>
          <a:p>
            <a:pPr indent="-315349" lvl="0" marL="457200" rtl="0" algn="just">
              <a:lnSpc>
                <a:spcPct val="150000"/>
              </a:lnSpc>
              <a:spcBef>
                <a:spcPts val="0"/>
              </a:spcBef>
              <a:spcAft>
                <a:spcPts val="0"/>
              </a:spcAft>
              <a:buClr>
                <a:schemeClr val="accent1"/>
              </a:buClr>
              <a:buSzPts val="1366"/>
              <a:buFont typeface="Lato"/>
              <a:buAutoNum type="arabicPeriod"/>
            </a:pPr>
            <a:r>
              <a:rPr b="1" lang="es" sz="1366">
                <a:solidFill>
                  <a:schemeClr val="accent1"/>
                </a:solidFill>
                <a:latin typeface="Lato"/>
                <a:ea typeface="Lato"/>
                <a:cs typeface="Lato"/>
                <a:sym typeface="Lato"/>
              </a:rPr>
              <a:t>Transformaciones espaciales leves</a:t>
            </a:r>
            <a:r>
              <a:rPr lang="es" sz="1366">
                <a:solidFill>
                  <a:schemeClr val="accent1"/>
                </a:solidFill>
                <a:latin typeface="Lato"/>
                <a:ea typeface="Lato"/>
                <a:cs typeface="Lato"/>
                <a:sym typeface="Lato"/>
              </a:rPr>
              <a:t>: </a:t>
            </a:r>
            <a:r>
              <a:rPr b="1" lang="es" sz="1366">
                <a:solidFill>
                  <a:schemeClr val="accent1"/>
                </a:solidFill>
                <a:latin typeface="Lato"/>
                <a:ea typeface="Lato"/>
                <a:cs typeface="Lato"/>
                <a:sym typeface="Lato"/>
              </a:rPr>
              <a:t>rotación</a:t>
            </a:r>
            <a:r>
              <a:rPr lang="es" sz="1366">
                <a:solidFill>
                  <a:schemeClr val="accent1"/>
                </a:solidFill>
                <a:latin typeface="Lato"/>
                <a:ea typeface="Lato"/>
                <a:cs typeface="Lato"/>
                <a:sym typeface="Lato"/>
              </a:rPr>
              <a:t> de ±10° y variaciones de </a:t>
            </a:r>
            <a:r>
              <a:rPr b="1" lang="es" sz="1366">
                <a:solidFill>
                  <a:schemeClr val="accent1"/>
                </a:solidFill>
                <a:latin typeface="Lato"/>
                <a:ea typeface="Lato"/>
                <a:cs typeface="Lato"/>
                <a:sym typeface="Lato"/>
              </a:rPr>
              <a:t>escala</a:t>
            </a:r>
            <a:r>
              <a:rPr lang="es" sz="1366">
                <a:solidFill>
                  <a:schemeClr val="accent1"/>
                </a:solidFill>
                <a:latin typeface="Lato"/>
                <a:ea typeface="Lato"/>
                <a:cs typeface="Lato"/>
                <a:sym typeface="Lato"/>
              </a:rPr>
              <a:t> en el rango 0.9–1.1.</a:t>
            </a:r>
            <a:endParaRPr sz="1366">
              <a:solidFill>
                <a:schemeClr val="accent1"/>
              </a:solidFill>
              <a:latin typeface="Lato"/>
              <a:ea typeface="Lato"/>
              <a:cs typeface="Lato"/>
              <a:sym typeface="Lato"/>
            </a:endParaRPr>
          </a:p>
          <a:p>
            <a:pPr indent="-315349" lvl="0" marL="457200" rtl="0" algn="just">
              <a:lnSpc>
                <a:spcPct val="150000"/>
              </a:lnSpc>
              <a:spcBef>
                <a:spcPts val="0"/>
              </a:spcBef>
              <a:spcAft>
                <a:spcPts val="0"/>
              </a:spcAft>
              <a:buClr>
                <a:schemeClr val="accent1"/>
              </a:buClr>
              <a:buSzPts val="1366"/>
              <a:buFont typeface="Lato"/>
              <a:buAutoNum type="arabicPeriod"/>
            </a:pPr>
            <a:r>
              <a:rPr b="1" lang="es" sz="1366">
                <a:solidFill>
                  <a:schemeClr val="accent1"/>
                </a:solidFill>
                <a:latin typeface="Lato"/>
                <a:ea typeface="Lato"/>
                <a:cs typeface="Lato"/>
                <a:sym typeface="Lato"/>
              </a:rPr>
              <a:t>Flip horizontal</a:t>
            </a:r>
            <a:r>
              <a:rPr lang="es" sz="1366">
                <a:solidFill>
                  <a:schemeClr val="accent1"/>
                </a:solidFill>
                <a:latin typeface="Lato"/>
                <a:ea typeface="Lato"/>
                <a:cs typeface="Lato"/>
                <a:sym typeface="Lato"/>
              </a:rPr>
              <a:t> aleatorio (el vertical invertiría la orientación anatómica del paciente).</a:t>
            </a:r>
            <a:endParaRPr sz="1366">
              <a:solidFill>
                <a:schemeClr val="accent1"/>
              </a:solidFill>
              <a:latin typeface="Lato"/>
              <a:ea typeface="Lato"/>
              <a:cs typeface="Lato"/>
              <a:sym typeface="Lato"/>
            </a:endParaRPr>
          </a:p>
          <a:p>
            <a:pPr indent="-315349" lvl="0" marL="457200" rtl="0" algn="just">
              <a:lnSpc>
                <a:spcPct val="150000"/>
              </a:lnSpc>
              <a:spcBef>
                <a:spcPts val="0"/>
              </a:spcBef>
              <a:spcAft>
                <a:spcPts val="0"/>
              </a:spcAft>
              <a:buClr>
                <a:schemeClr val="accent1"/>
              </a:buClr>
              <a:buSzPts val="1366"/>
              <a:buFont typeface="Lato"/>
              <a:buAutoNum type="arabicPeriod"/>
            </a:pPr>
            <a:r>
              <a:rPr b="1" lang="es" sz="1366">
                <a:solidFill>
                  <a:schemeClr val="accent1"/>
                </a:solidFill>
                <a:latin typeface="Lato"/>
                <a:ea typeface="Lato"/>
                <a:cs typeface="Lato"/>
                <a:sym typeface="Lato"/>
              </a:rPr>
              <a:t>Variaciones leves de brillo y contraste</a:t>
            </a:r>
            <a:r>
              <a:rPr lang="es" sz="1366">
                <a:solidFill>
                  <a:schemeClr val="accent1"/>
                </a:solidFill>
                <a:latin typeface="Lato"/>
                <a:ea typeface="Lato"/>
                <a:cs typeface="Lato"/>
                <a:sym typeface="Lato"/>
              </a:rPr>
              <a:t>, y </a:t>
            </a:r>
            <a:r>
              <a:rPr b="1" lang="es" sz="1366">
                <a:solidFill>
                  <a:schemeClr val="accent1"/>
                </a:solidFill>
                <a:latin typeface="Lato"/>
                <a:ea typeface="Lato"/>
                <a:cs typeface="Lato"/>
                <a:sym typeface="Lato"/>
              </a:rPr>
              <a:t>ruido gaussiano suave</a:t>
            </a:r>
            <a:r>
              <a:rPr lang="es" sz="1366">
                <a:solidFill>
                  <a:schemeClr val="accent1"/>
                </a:solidFill>
                <a:latin typeface="Lato"/>
                <a:ea typeface="Lato"/>
                <a:cs typeface="Lato"/>
                <a:sym typeface="Lato"/>
              </a:rPr>
              <a:t>, para simular diferencias entre equipos y protocolos de adquisición.</a:t>
            </a:r>
            <a:endParaRPr sz="1366">
              <a:solidFill>
                <a:schemeClr val="accent1"/>
              </a:solidFill>
              <a:latin typeface="Lato"/>
              <a:ea typeface="Lato"/>
              <a:cs typeface="Lato"/>
              <a:sym typeface="Lato"/>
            </a:endParaRPr>
          </a:p>
          <a:p>
            <a:pPr indent="-315349" lvl="0" marL="457200" rtl="0" algn="just">
              <a:lnSpc>
                <a:spcPct val="150000"/>
              </a:lnSpc>
              <a:spcBef>
                <a:spcPts val="0"/>
              </a:spcBef>
              <a:spcAft>
                <a:spcPts val="0"/>
              </a:spcAft>
              <a:buClr>
                <a:schemeClr val="accent1"/>
              </a:buClr>
              <a:buSzPts val="1366"/>
              <a:buFont typeface="Lato"/>
              <a:buAutoNum type="arabicPeriod"/>
            </a:pPr>
            <a:r>
              <a:rPr b="1" lang="es" sz="1366">
                <a:solidFill>
                  <a:schemeClr val="accent1"/>
                </a:solidFill>
                <a:latin typeface="Lato"/>
                <a:ea typeface="Lato"/>
                <a:cs typeface="Lato"/>
                <a:sym typeface="Lato"/>
              </a:rPr>
              <a:t>Normalización</a:t>
            </a:r>
            <a:r>
              <a:rPr lang="es" sz="1366">
                <a:solidFill>
                  <a:schemeClr val="accent1"/>
                </a:solidFill>
                <a:latin typeface="Lato"/>
                <a:ea typeface="Lato"/>
                <a:cs typeface="Lato"/>
                <a:sym typeface="Lato"/>
              </a:rPr>
              <a:t> con los valores de mean y std de ImageNet, necesaria para el uso de pesos preentrenados.</a:t>
            </a:r>
            <a:endParaRPr/>
          </a:p>
        </p:txBody>
      </p:sp>
      <p:pic>
        <p:nvPicPr>
          <p:cNvPr id="224" name="Google Shape;224;p31"/>
          <p:cNvPicPr preferRelativeResize="0"/>
          <p:nvPr/>
        </p:nvPicPr>
        <p:blipFill rotWithShape="1">
          <a:blip r:embed="rId4">
            <a:alphaModFix/>
          </a:blip>
          <a:srcRect b="24618" l="0" r="77489" t="54015"/>
          <a:stretch/>
        </p:blipFill>
        <p:spPr>
          <a:xfrm>
            <a:off x="7386300" y="764650"/>
            <a:ext cx="1583002" cy="15533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2"/>
          <p:cNvSpPr txBox="1"/>
          <p:nvPr>
            <p:ph idx="1" type="body"/>
          </p:nvPr>
        </p:nvSpPr>
        <p:spPr>
          <a:xfrm>
            <a:off x="460775" y="764650"/>
            <a:ext cx="8206500" cy="40425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0"/>
              </a:spcAft>
              <a:buNone/>
            </a:pPr>
            <a:r>
              <a:rPr lang="es" sz="1600"/>
              <a:t>Se escogió como modelo baseline la arquitectura </a:t>
            </a:r>
            <a:r>
              <a:rPr b="1" lang="es" sz="1600"/>
              <a:t>VGG16 preentrenada en ImageNet</a:t>
            </a:r>
            <a:r>
              <a:rPr lang="es" sz="1600"/>
              <a:t>, por tratarse de una arquitectura clásica y establecida, eficiente y fácil de implementar. Esto permitió:</a:t>
            </a:r>
            <a:endParaRPr sz="1600"/>
          </a:p>
          <a:p>
            <a:pPr indent="-330200" lvl="0" marL="457200" rtl="0" algn="just">
              <a:lnSpc>
                <a:spcPct val="150000"/>
              </a:lnSpc>
              <a:spcBef>
                <a:spcPts val="1200"/>
              </a:spcBef>
              <a:spcAft>
                <a:spcPts val="0"/>
              </a:spcAft>
              <a:buSzPts val="1600"/>
              <a:buAutoNum type="arabicPeriod"/>
            </a:pPr>
            <a:r>
              <a:rPr lang="es" sz="1600"/>
              <a:t>Evaluar y refinar las </a:t>
            </a:r>
            <a:r>
              <a:rPr b="1" lang="es" sz="1600"/>
              <a:t>transformaciones</a:t>
            </a:r>
            <a:r>
              <a:rPr lang="es" sz="1600"/>
              <a:t> utilizadas</a:t>
            </a:r>
            <a:endParaRPr sz="1600"/>
          </a:p>
          <a:p>
            <a:pPr indent="-330200" lvl="0" marL="457200" rtl="0" algn="just">
              <a:lnSpc>
                <a:spcPct val="150000"/>
              </a:lnSpc>
              <a:spcBef>
                <a:spcPts val="0"/>
              </a:spcBef>
              <a:spcAft>
                <a:spcPts val="0"/>
              </a:spcAft>
              <a:buSzPts val="1600"/>
              <a:buAutoNum type="arabicPeriod"/>
            </a:pPr>
            <a:r>
              <a:rPr lang="es" sz="1600"/>
              <a:t>Descartar técnicas adicionales para el </a:t>
            </a:r>
            <a:r>
              <a:rPr b="1" lang="es" sz="1600"/>
              <a:t>desbalance de clases</a:t>
            </a:r>
            <a:endParaRPr b="1" sz="1600"/>
          </a:p>
          <a:p>
            <a:pPr indent="-330200" lvl="0" marL="457200" rtl="0" algn="just">
              <a:lnSpc>
                <a:spcPct val="150000"/>
              </a:lnSpc>
              <a:spcBef>
                <a:spcPts val="0"/>
              </a:spcBef>
              <a:spcAft>
                <a:spcPts val="0"/>
              </a:spcAft>
              <a:buSzPts val="1600"/>
              <a:buAutoNum type="arabicPeriod"/>
            </a:pPr>
            <a:r>
              <a:rPr lang="es" sz="1600"/>
              <a:t>Comparar resultados con </a:t>
            </a:r>
            <a:r>
              <a:rPr b="1" lang="es" sz="1600"/>
              <a:t>dataset original y Data_Clean</a:t>
            </a:r>
            <a:endParaRPr b="1" sz="1600"/>
          </a:p>
        </p:txBody>
      </p:sp>
      <p:sp>
        <p:nvSpPr>
          <p:cNvPr id="230" name="Google Shape;230;p3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31" name="Google Shape;231;p32"/>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Baseline - VGG16</a:t>
            </a:r>
            <a:endParaRPr/>
          </a:p>
        </p:txBody>
      </p:sp>
      <p:pic>
        <p:nvPicPr>
          <p:cNvPr id="232" name="Google Shape;232;p32"/>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graphicFrame>
        <p:nvGraphicFramePr>
          <p:cNvPr id="233" name="Google Shape;233;p32"/>
          <p:cNvGraphicFramePr/>
          <p:nvPr/>
        </p:nvGraphicFramePr>
        <p:xfrm>
          <a:off x="1251550" y="3473025"/>
          <a:ext cx="3000000" cy="3000000"/>
        </p:xfrm>
        <a:graphic>
          <a:graphicData uri="http://schemas.openxmlformats.org/drawingml/2006/table">
            <a:tbl>
              <a:tblPr>
                <a:noFill/>
                <a:tableStyleId>{F2346736-6829-488F-B508-B102F50FE000}</a:tableStyleId>
              </a:tblPr>
              <a:tblGrid>
                <a:gridCol w="1660225"/>
                <a:gridCol w="1660225"/>
                <a:gridCol w="1660225"/>
                <a:gridCol w="1660225"/>
              </a:tblGrid>
              <a:tr h="356325">
                <a:tc>
                  <a:txBody>
                    <a:bodyPr/>
                    <a:lstStyle/>
                    <a:p>
                      <a:pPr indent="0" lvl="0" marL="0" rtl="0" algn="ctr">
                        <a:spcBef>
                          <a:spcPts val="0"/>
                        </a:spcBef>
                        <a:spcAft>
                          <a:spcPts val="0"/>
                        </a:spcAft>
                        <a:buNone/>
                      </a:pPr>
                      <a:r>
                        <a:rPr b="1" lang="es">
                          <a:solidFill>
                            <a:srgbClr val="434343"/>
                          </a:solidFill>
                          <a:latin typeface="Lato"/>
                          <a:ea typeface="Lato"/>
                          <a:cs typeface="Lato"/>
                          <a:sym typeface="Lato"/>
                        </a:rPr>
                        <a:t>Métrica (test set)</a:t>
                      </a:r>
                      <a:endParaRPr b="1">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s">
                          <a:solidFill>
                            <a:srgbClr val="434343"/>
                          </a:solidFill>
                          <a:latin typeface="Lato"/>
                          <a:ea typeface="Lato"/>
                          <a:cs typeface="Lato"/>
                          <a:sym typeface="Lato"/>
                        </a:rPr>
                        <a:t>Dataset original</a:t>
                      </a:r>
                      <a:endParaRPr b="1">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s">
                          <a:solidFill>
                            <a:srgbClr val="434343"/>
                          </a:solidFill>
                          <a:latin typeface="Lato"/>
                          <a:ea typeface="Lato"/>
                          <a:cs typeface="Lato"/>
                          <a:sym typeface="Lato"/>
                        </a:rPr>
                        <a:t>Data_Clean</a:t>
                      </a:r>
                      <a:endParaRPr b="1">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s">
                          <a:solidFill>
                            <a:srgbClr val="434343"/>
                          </a:solidFill>
                          <a:latin typeface="Lato"/>
                          <a:ea typeface="Lato"/>
                          <a:cs typeface="Lato"/>
                          <a:sym typeface="Lato"/>
                        </a:rPr>
                        <a:t>Mejora</a:t>
                      </a:r>
                      <a:endParaRPr b="1">
                        <a:solidFill>
                          <a:srgbClr val="434343"/>
                        </a:solidFill>
                        <a:latin typeface="Lato"/>
                        <a:ea typeface="Lato"/>
                        <a:cs typeface="Lato"/>
                        <a:sym typeface="Lato"/>
                      </a:endParaRPr>
                    </a:p>
                  </a:txBody>
                  <a:tcPr marT="91425" marB="91425" marR="91425" marL="91425"/>
                </a:tc>
              </a:tr>
              <a:tr h="356325">
                <a:tc>
                  <a:txBody>
                    <a:bodyPr/>
                    <a:lstStyle/>
                    <a:p>
                      <a:pPr indent="0" lvl="0" marL="0" rtl="0" algn="ctr">
                        <a:spcBef>
                          <a:spcPts val="0"/>
                        </a:spcBef>
                        <a:spcAft>
                          <a:spcPts val="0"/>
                        </a:spcAft>
                        <a:buNone/>
                      </a:pPr>
                      <a:r>
                        <a:rPr lang="es">
                          <a:solidFill>
                            <a:srgbClr val="434343"/>
                          </a:solidFill>
                          <a:latin typeface="Lato"/>
                          <a:ea typeface="Lato"/>
                          <a:cs typeface="Lato"/>
                          <a:sym typeface="Lato"/>
                        </a:rPr>
                        <a:t>Accuracy</a:t>
                      </a:r>
                      <a:endParaRPr>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a:solidFill>
                            <a:srgbClr val="434343"/>
                          </a:solidFill>
                          <a:latin typeface="Lato"/>
                          <a:ea typeface="Lato"/>
                          <a:cs typeface="Lato"/>
                          <a:sym typeface="Lato"/>
                        </a:rPr>
                        <a:t>0.55</a:t>
                      </a:r>
                      <a:endParaRPr>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a:solidFill>
                            <a:srgbClr val="434343"/>
                          </a:solidFill>
                          <a:latin typeface="Lato"/>
                          <a:ea typeface="Lato"/>
                          <a:cs typeface="Lato"/>
                          <a:sym typeface="Lato"/>
                        </a:rPr>
                        <a:t>0.65</a:t>
                      </a:r>
                      <a:endParaRPr>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a:solidFill>
                            <a:srgbClr val="434343"/>
                          </a:solidFill>
                          <a:latin typeface="Lato"/>
                          <a:ea typeface="Lato"/>
                          <a:cs typeface="Lato"/>
                          <a:sym typeface="Lato"/>
                        </a:rPr>
                        <a:t>+10%</a:t>
                      </a:r>
                      <a:endParaRPr>
                        <a:solidFill>
                          <a:srgbClr val="434343"/>
                        </a:solidFill>
                        <a:latin typeface="Lato"/>
                        <a:ea typeface="Lato"/>
                        <a:cs typeface="Lato"/>
                        <a:sym typeface="Lato"/>
                      </a:endParaRPr>
                    </a:p>
                  </a:txBody>
                  <a:tcPr marT="91425" marB="91425" marR="91425" marL="91425"/>
                </a:tc>
              </a:tr>
              <a:tr h="356325">
                <a:tc>
                  <a:txBody>
                    <a:bodyPr/>
                    <a:lstStyle/>
                    <a:p>
                      <a:pPr indent="0" lvl="0" marL="0" rtl="0" algn="ctr">
                        <a:spcBef>
                          <a:spcPts val="0"/>
                        </a:spcBef>
                        <a:spcAft>
                          <a:spcPts val="0"/>
                        </a:spcAft>
                        <a:buNone/>
                      </a:pPr>
                      <a:r>
                        <a:rPr lang="es">
                          <a:solidFill>
                            <a:srgbClr val="434343"/>
                          </a:solidFill>
                          <a:latin typeface="Lato"/>
                          <a:ea typeface="Lato"/>
                          <a:cs typeface="Lato"/>
                          <a:sym typeface="Lato"/>
                        </a:rPr>
                        <a:t>F1-Score Macro</a:t>
                      </a:r>
                      <a:endParaRPr>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a:solidFill>
                            <a:srgbClr val="434343"/>
                          </a:solidFill>
                          <a:latin typeface="Lato"/>
                          <a:ea typeface="Lato"/>
                          <a:cs typeface="Lato"/>
                          <a:sym typeface="Lato"/>
                        </a:rPr>
                        <a:t>0.54</a:t>
                      </a:r>
                      <a:endParaRPr>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a:solidFill>
                            <a:srgbClr val="434343"/>
                          </a:solidFill>
                          <a:latin typeface="Lato"/>
                          <a:ea typeface="Lato"/>
                          <a:cs typeface="Lato"/>
                          <a:sym typeface="Lato"/>
                        </a:rPr>
                        <a:t>0.70</a:t>
                      </a:r>
                      <a:endParaRPr>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a:solidFill>
                            <a:srgbClr val="434343"/>
                          </a:solidFill>
                          <a:latin typeface="Lato"/>
                          <a:ea typeface="Lato"/>
                          <a:cs typeface="Lato"/>
                          <a:sym typeface="Lato"/>
                        </a:rPr>
                        <a:t>+16%</a:t>
                      </a:r>
                      <a:endParaRPr>
                        <a:solidFill>
                          <a:srgbClr val="434343"/>
                        </a:solidFill>
                        <a:latin typeface="Lato"/>
                        <a:ea typeface="Lato"/>
                        <a:cs typeface="Lato"/>
                        <a:sym typeface="Lato"/>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3"/>
          <p:cNvSpPr txBox="1"/>
          <p:nvPr>
            <p:ph idx="1" type="body"/>
          </p:nvPr>
        </p:nvSpPr>
        <p:spPr>
          <a:xfrm>
            <a:off x="460775" y="764650"/>
            <a:ext cx="4069800" cy="4042500"/>
          </a:xfrm>
          <a:prstGeom prst="rect">
            <a:avLst/>
          </a:prstGeom>
        </p:spPr>
        <p:txBody>
          <a:bodyPr anchorCtr="0" anchor="t" bIns="91425" lIns="91425" spcFirstLastPara="1" rIns="91425" wrap="square" tIns="91425">
            <a:normAutofit lnSpcReduction="10000"/>
          </a:bodyPr>
          <a:lstStyle/>
          <a:p>
            <a:pPr indent="0" lvl="0" marL="0" rtl="0" algn="just">
              <a:lnSpc>
                <a:spcPct val="150000"/>
              </a:lnSpc>
              <a:spcBef>
                <a:spcPts val="0"/>
              </a:spcBef>
              <a:spcAft>
                <a:spcPts val="0"/>
              </a:spcAft>
              <a:buNone/>
            </a:pPr>
            <a:r>
              <a:rPr lang="es" sz="1600" u="sng"/>
              <a:t>Puntos fuertes y de relevancia clínica:</a:t>
            </a:r>
            <a:r>
              <a:rPr lang="es" sz="1600" u="sng"/>
              <a:t> </a:t>
            </a:r>
            <a:endParaRPr sz="1600" u="sng"/>
          </a:p>
          <a:p>
            <a:pPr indent="-330200" lvl="0" marL="457200" rtl="0" algn="just">
              <a:lnSpc>
                <a:spcPct val="150000"/>
              </a:lnSpc>
              <a:spcBef>
                <a:spcPts val="1200"/>
              </a:spcBef>
              <a:spcAft>
                <a:spcPts val="0"/>
              </a:spcAft>
              <a:buSzPts val="1600"/>
              <a:buChar char="●"/>
            </a:pPr>
            <a:r>
              <a:rPr lang="es" sz="1600"/>
              <a:t>Se diferencian correctamente las clases tumorales de las normales.</a:t>
            </a:r>
            <a:endParaRPr sz="1600"/>
          </a:p>
          <a:p>
            <a:pPr indent="-330200" lvl="0" marL="457200" rtl="0" algn="just">
              <a:lnSpc>
                <a:spcPct val="150000"/>
              </a:lnSpc>
              <a:spcBef>
                <a:spcPts val="0"/>
              </a:spcBef>
              <a:spcAft>
                <a:spcPts val="0"/>
              </a:spcAft>
              <a:buSzPts val="1600"/>
              <a:buChar char="●"/>
            </a:pPr>
            <a:r>
              <a:rPr lang="es" sz="1600"/>
              <a:t>Clase normal con excelente desempeño: recall de 1.0</a:t>
            </a:r>
            <a:endParaRPr sz="1600"/>
          </a:p>
          <a:p>
            <a:pPr indent="0" lvl="0" marL="0" rtl="0" algn="just">
              <a:lnSpc>
                <a:spcPct val="150000"/>
              </a:lnSpc>
              <a:spcBef>
                <a:spcPts val="1200"/>
              </a:spcBef>
              <a:spcAft>
                <a:spcPts val="0"/>
              </a:spcAft>
              <a:buNone/>
            </a:pPr>
            <a:r>
              <a:rPr lang="es" sz="1600" u="sng"/>
              <a:t>Clases problemáticas:</a:t>
            </a:r>
            <a:endParaRPr sz="1600" u="sng"/>
          </a:p>
          <a:p>
            <a:pPr indent="-330200" lvl="0" marL="457200" rtl="0" algn="just">
              <a:lnSpc>
                <a:spcPct val="150000"/>
              </a:lnSpc>
              <a:spcBef>
                <a:spcPts val="1200"/>
              </a:spcBef>
              <a:spcAft>
                <a:spcPts val="0"/>
              </a:spcAft>
              <a:buSzPts val="1600"/>
              <a:buChar char="●"/>
            </a:pPr>
            <a:r>
              <a:rPr lang="es" sz="1600"/>
              <a:t>Large Cell Carcinoma con recall muy bajo (0.50)</a:t>
            </a:r>
            <a:endParaRPr sz="1600"/>
          </a:p>
          <a:p>
            <a:pPr indent="-330200" lvl="0" marL="457200" rtl="0" algn="just">
              <a:lnSpc>
                <a:spcPct val="150000"/>
              </a:lnSpc>
              <a:spcBef>
                <a:spcPts val="0"/>
              </a:spcBef>
              <a:spcAft>
                <a:spcPts val="0"/>
              </a:spcAft>
              <a:buSzPts val="1600"/>
              <a:buChar char="●"/>
            </a:pPr>
            <a:r>
              <a:rPr lang="es" sz="1600"/>
              <a:t>Confusión entre Adenocarcinoma y Squamous Cell Carcinoma</a:t>
            </a:r>
            <a:endParaRPr sz="1600"/>
          </a:p>
        </p:txBody>
      </p:sp>
      <p:sp>
        <p:nvSpPr>
          <p:cNvPr id="239" name="Google Shape;239;p3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40" name="Google Shape;240;p33"/>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Baseline - VGG16 - Data_Clean</a:t>
            </a:r>
            <a:endParaRPr/>
          </a:p>
        </p:txBody>
      </p:sp>
      <p:pic>
        <p:nvPicPr>
          <p:cNvPr id="241" name="Google Shape;241;p33"/>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242" name="Google Shape;242;p33"/>
          <p:cNvPicPr preferRelativeResize="0"/>
          <p:nvPr/>
        </p:nvPicPr>
        <p:blipFill>
          <a:blip r:embed="rId4">
            <a:alphaModFix/>
          </a:blip>
          <a:stretch>
            <a:fillRect/>
          </a:stretch>
        </p:blipFill>
        <p:spPr>
          <a:xfrm>
            <a:off x="4931901" y="978513"/>
            <a:ext cx="4089999" cy="3614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ph idx="1" type="body"/>
          </p:nvPr>
        </p:nvSpPr>
        <p:spPr>
          <a:xfrm>
            <a:off x="526275" y="623846"/>
            <a:ext cx="3351900" cy="19479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s" sz="1600"/>
              <a:t>Se eligió como primer modelo para la comparación la </a:t>
            </a:r>
            <a:r>
              <a:rPr b="1" lang="es" sz="1600"/>
              <a:t>DenseNet121</a:t>
            </a:r>
            <a:r>
              <a:rPr b="1" lang="es" sz="1600"/>
              <a:t> preentrenada en ImageNet</a:t>
            </a:r>
            <a:r>
              <a:rPr lang="es" sz="1600"/>
              <a:t>, por sus conexiones densas y su desempeño en el ámbito de imágenes médicas.</a:t>
            </a:r>
            <a:endParaRPr b="1" sz="1600"/>
          </a:p>
        </p:txBody>
      </p:sp>
      <p:sp>
        <p:nvSpPr>
          <p:cNvPr id="248" name="Google Shape;248;p34"/>
          <p:cNvSpPr txBox="1"/>
          <p:nvPr>
            <p:ph idx="1" type="body"/>
          </p:nvPr>
        </p:nvSpPr>
        <p:spPr>
          <a:xfrm>
            <a:off x="460775" y="3017000"/>
            <a:ext cx="8206500" cy="1732800"/>
          </a:xfrm>
          <a:prstGeom prst="rect">
            <a:avLst/>
          </a:prstGeom>
        </p:spPr>
        <p:txBody>
          <a:bodyPr anchorCtr="0" anchor="t" bIns="91425" lIns="91425" spcFirstLastPara="1" rIns="91425" wrap="square" tIns="91425">
            <a:normAutofit lnSpcReduction="20000"/>
          </a:bodyPr>
          <a:lstStyle/>
          <a:p>
            <a:pPr indent="0" lvl="0" marL="0" rtl="0" algn="just">
              <a:lnSpc>
                <a:spcPct val="150000"/>
              </a:lnSpc>
              <a:spcBef>
                <a:spcPts val="0"/>
              </a:spcBef>
              <a:spcAft>
                <a:spcPts val="0"/>
              </a:spcAft>
              <a:buNone/>
            </a:pPr>
            <a:r>
              <a:t/>
            </a:r>
            <a:endParaRPr sz="1800"/>
          </a:p>
          <a:p>
            <a:pPr indent="0" lvl="0" marL="0" rtl="0" algn="just">
              <a:spcBef>
                <a:spcPts val="1200"/>
              </a:spcBef>
              <a:spcAft>
                <a:spcPts val="0"/>
              </a:spcAft>
              <a:buNone/>
            </a:pPr>
            <a:r>
              <a:t/>
            </a:r>
            <a:endParaRPr b="1" sz="1400">
              <a:solidFill>
                <a:srgbClr val="000000"/>
              </a:solidFill>
            </a:endParaRPr>
          </a:p>
          <a:p>
            <a:pPr indent="0" lvl="0" marL="0" rtl="0" algn="just">
              <a:lnSpc>
                <a:spcPct val="100000"/>
              </a:lnSpc>
              <a:spcBef>
                <a:spcPts val="1200"/>
              </a:spcBef>
              <a:spcAft>
                <a:spcPts val="0"/>
              </a:spcAft>
              <a:buNone/>
            </a:pPr>
            <a:r>
              <a:t/>
            </a:r>
            <a:endParaRPr sz="1400">
              <a:solidFill>
                <a:srgbClr val="000000"/>
              </a:solidFill>
            </a:endParaRPr>
          </a:p>
          <a:p>
            <a:pPr indent="0" lvl="0" marL="0" rtl="0" algn="just">
              <a:lnSpc>
                <a:spcPct val="100000"/>
              </a:lnSpc>
              <a:spcBef>
                <a:spcPts val="0"/>
              </a:spcBef>
              <a:spcAft>
                <a:spcPts val="0"/>
              </a:spcAft>
              <a:buNone/>
            </a:pPr>
            <a:r>
              <a:t/>
            </a:r>
            <a:endParaRPr i="1" sz="1400">
              <a:solidFill>
                <a:srgbClr val="000000"/>
              </a:solidFill>
            </a:endParaRPr>
          </a:p>
          <a:p>
            <a:pPr indent="0" lvl="0" marL="0" rtl="0" algn="just">
              <a:spcBef>
                <a:spcPts val="0"/>
              </a:spcBef>
              <a:spcAft>
                <a:spcPts val="1200"/>
              </a:spcAft>
              <a:buNone/>
            </a:pPr>
            <a:r>
              <a:t/>
            </a:r>
            <a:endParaRPr b="1" sz="1800" u="sng"/>
          </a:p>
        </p:txBody>
      </p:sp>
      <p:sp>
        <p:nvSpPr>
          <p:cNvPr id="249" name="Google Shape;249;p3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50" name="Google Shape;250;p34"/>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DenseNet121</a:t>
            </a:r>
            <a:endParaRPr/>
          </a:p>
        </p:txBody>
      </p:sp>
      <p:pic>
        <p:nvPicPr>
          <p:cNvPr id="251" name="Google Shape;251;p34"/>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252" name="Google Shape;252;p34"/>
          <p:cNvPicPr preferRelativeResize="0"/>
          <p:nvPr/>
        </p:nvPicPr>
        <p:blipFill>
          <a:blip r:embed="rId4">
            <a:alphaModFix/>
          </a:blip>
          <a:stretch>
            <a:fillRect/>
          </a:stretch>
        </p:blipFill>
        <p:spPr>
          <a:xfrm>
            <a:off x="4154712" y="828124"/>
            <a:ext cx="4773314" cy="1539350"/>
          </a:xfrm>
          <a:prstGeom prst="rect">
            <a:avLst/>
          </a:prstGeom>
          <a:noFill/>
          <a:ln>
            <a:noFill/>
          </a:ln>
        </p:spPr>
      </p:pic>
      <p:graphicFrame>
        <p:nvGraphicFramePr>
          <p:cNvPr id="253" name="Google Shape;253;p34"/>
          <p:cNvGraphicFramePr/>
          <p:nvPr/>
        </p:nvGraphicFramePr>
        <p:xfrm>
          <a:off x="526275" y="3478969"/>
          <a:ext cx="3000000" cy="3000000"/>
        </p:xfrm>
        <a:graphic>
          <a:graphicData uri="http://schemas.openxmlformats.org/drawingml/2006/table">
            <a:tbl>
              <a:tblPr>
                <a:noFill/>
                <a:tableStyleId>{F2346736-6829-488F-B508-B102F50FE000}</a:tableStyleId>
              </a:tblPr>
              <a:tblGrid>
                <a:gridCol w="1630100"/>
                <a:gridCol w="2751575"/>
                <a:gridCol w="1884275"/>
                <a:gridCol w="1809550"/>
              </a:tblGrid>
              <a:tr h="354525">
                <a:tc>
                  <a:txBody>
                    <a:bodyPr/>
                    <a:lstStyle/>
                    <a:p>
                      <a:pPr indent="0" lvl="0" marL="0" rtl="0" algn="ctr">
                        <a:spcBef>
                          <a:spcPts val="0"/>
                        </a:spcBef>
                        <a:spcAft>
                          <a:spcPts val="0"/>
                        </a:spcAft>
                        <a:buNone/>
                      </a:pPr>
                      <a:r>
                        <a:rPr b="1" lang="es" sz="1200">
                          <a:solidFill>
                            <a:srgbClr val="434343"/>
                          </a:solidFill>
                          <a:latin typeface="Lato"/>
                          <a:ea typeface="Lato"/>
                          <a:cs typeface="Lato"/>
                          <a:sym typeface="Lato"/>
                        </a:rPr>
                        <a:t>Arquitectura</a:t>
                      </a:r>
                      <a:endParaRPr b="1"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s" sz="1200">
                          <a:solidFill>
                            <a:srgbClr val="434343"/>
                          </a:solidFill>
                          <a:latin typeface="Lato"/>
                          <a:ea typeface="Lato"/>
                          <a:cs typeface="Lato"/>
                          <a:sym typeface="Lato"/>
                        </a:rPr>
                        <a:t>Capas descongeladas</a:t>
                      </a:r>
                      <a:endParaRPr b="1"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s" sz="1200">
                          <a:solidFill>
                            <a:srgbClr val="434343"/>
                          </a:solidFill>
                          <a:latin typeface="Lato"/>
                          <a:ea typeface="Lato"/>
                          <a:cs typeface="Lato"/>
                          <a:sym typeface="Lato"/>
                        </a:rPr>
                        <a:t>Accuracy</a:t>
                      </a:r>
                      <a:endParaRPr b="1"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s" sz="1200">
                          <a:solidFill>
                            <a:srgbClr val="434343"/>
                          </a:solidFill>
                          <a:latin typeface="Lato"/>
                          <a:ea typeface="Lato"/>
                          <a:cs typeface="Lato"/>
                          <a:sym typeface="Lato"/>
                        </a:rPr>
                        <a:t>Macro F1</a:t>
                      </a:r>
                      <a:endParaRPr b="1" sz="1200">
                        <a:solidFill>
                          <a:srgbClr val="434343"/>
                        </a:solidFill>
                        <a:latin typeface="Lato"/>
                        <a:ea typeface="Lato"/>
                        <a:cs typeface="Lato"/>
                        <a:sym typeface="Lato"/>
                      </a:endParaRPr>
                    </a:p>
                  </a:txBody>
                  <a:tcPr marT="91425" marB="91425" marR="91425" marL="91425"/>
                </a:tc>
              </a:tr>
              <a:tr h="354525">
                <a:tc>
                  <a:txBody>
                    <a:bodyPr/>
                    <a:lstStyle/>
                    <a:p>
                      <a:pPr indent="0" lvl="0" marL="0" rtl="0" algn="ctr">
                        <a:spcBef>
                          <a:spcPts val="0"/>
                        </a:spcBef>
                        <a:spcAft>
                          <a:spcPts val="0"/>
                        </a:spcAft>
                        <a:buNone/>
                      </a:pPr>
                      <a:r>
                        <a:rPr lang="es" sz="1200">
                          <a:solidFill>
                            <a:srgbClr val="434343"/>
                          </a:solidFill>
                          <a:latin typeface="Lato"/>
                          <a:ea typeface="Lato"/>
                          <a:cs typeface="Lato"/>
                          <a:sym typeface="Lato"/>
                        </a:rPr>
                        <a:t>VGG16</a:t>
                      </a:r>
                      <a:endParaRPr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sz="1200">
                          <a:solidFill>
                            <a:srgbClr val="434343"/>
                          </a:solidFill>
                          <a:latin typeface="Lato"/>
                          <a:ea typeface="Lato"/>
                          <a:cs typeface="Lato"/>
                          <a:sym typeface="Lato"/>
                        </a:rPr>
                        <a:t>Clasificador</a:t>
                      </a:r>
                      <a:endParaRPr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sz="1200">
                          <a:solidFill>
                            <a:srgbClr val="434343"/>
                          </a:solidFill>
                          <a:latin typeface="Lato"/>
                          <a:ea typeface="Lato"/>
                          <a:cs typeface="Lato"/>
                          <a:sym typeface="Lato"/>
                        </a:rPr>
                        <a:t>0.54</a:t>
                      </a:r>
                      <a:endParaRPr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sz="1200">
                          <a:solidFill>
                            <a:srgbClr val="434343"/>
                          </a:solidFill>
                          <a:latin typeface="Lato"/>
                          <a:ea typeface="Lato"/>
                          <a:cs typeface="Lato"/>
                          <a:sym typeface="Lato"/>
                        </a:rPr>
                        <a:t>0.70</a:t>
                      </a:r>
                      <a:endParaRPr sz="1200">
                        <a:solidFill>
                          <a:srgbClr val="434343"/>
                        </a:solidFill>
                        <a:latin typeface="Lato"/>
                        <a:ea typeface="Lato"/>
                        <a:cs typeface="Lato"/>
                        <a:sym typeface="Lato"/>
                      </a:endParaRPr>
                    </a:p>
                  </a:txBody>
                  <a:tcPr marT="91425" marB="91425" marR="91425" marL="91425"/>
                </a:tc>
              </a:tr>
              <a:tr h="354525">
                <a:tc>
                  <a:txBody>
                    <a:bodyPr/>
                    <a:lstStyle/>
                    <a:p>
                      <a:pPr indent="0" lvl="0" marL="0" rtl="0" algn="ctr">
                        <a:spcBef>
                          <a:spcPts val="0"/>
                        </a:spcBef>
                        <a:spcAft>
                          <a:spcPts val="0"/>
                        </a:spcAft>
                        <a:buNone/>
                      </a:pPr>
                      <a:r>
                        <a:rPr lang="es" sz="1200">
                          <a:solidFill>
                            <a:srgbClr val="434343"/>
                          </a:solidFill>
                          <a:latin typeface="Lato"/>
                          <a:ea typeface="Lato"/>
                          <a:cs typeface="Lato"/>
                          <a:sym typeface="Lato"/>
                        </a:rPr>
                        <a:t>DenseNet121</a:t>
                      </a:r>
                      <a:endParaRPr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sz="1200">
                          <a:solidFill>
                            <a:srgbClr val="434343"/>
                          </a:solidFill>
                          <a:latin typeface="Lato"/>
                          <a:ea typeface="Lato"/>
                          <a:cs typeface="Lato"/>
                          <a:sym typeface="Lato"/>
                        </a:rPr>
                        <a:t>Clasificador</a:t>
                      </a:r>
                      <a:endParaRPr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sz="1200">
                          <a:solidFill>
                            <a:srgbClr val="434343"/>
                          </a:solidFill>
                          <a:latin typeface="Lato"/>
                          <a:ea typeface="Lato"/>
                          <a:cs typeface="Lato"/>
                          <a:sym typeface="Lato"/>
                        </a:rPr>
                        <a:t>0.56</a:t>
                      </a:r>
                      <a:endParaRPr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lang="es" sz="1200">
                          <a:solidFill>
                            <a:srgbClr val="434343"/>
                          </a:solidFill>
                          <a:latin typeface="Lato"/>
                          <a:ea typeface="Lato"/>
                          <a:cs typeface="Lato"/>
                          <a:sym typeface="Lato"/>
                        </a:rPr>
                        <a:t>0.56</a:t>
                      </a:r>
                      <a:endParaRPr sz="1200">
                        <a:solidFill>
                          <a:srgbClr val="434343"/>
                        </a:solidFill>
                        <a:latin typeface="Lato"/>
                        <a:ea typeface="Lato"/>
                        <a:cs typeface="Lato"/>
                        <a:sym typeface="Lato"/>
                      </a:endParaRPr>
                    </a:p>
                  </a:txBody>
                  <a:tcPr marT="91425" marB="91425" marR="91425" marL="91425"/>
                </a:tc>
              </a:tr>
              <a:tr h="354525">
                <a:tc>
                  <a:txBody>
                    <a:bodyPr/>
                    <a:lstStyle/>
                    <a:p>
                      <a:pPr indent="0" lvl="0" marL="0" rtl="0" algn="ctr">
                        <a:spcBef>
                          <a:spcPts val="0"/>
                        </a:spcBef>
                        <a:spcAft>
                          <a:spcPts val="0"/>
                        </a:spcAft>
                        <a:buNone/>
                      </a:pPr>
                      <a:r>
                        <a:rPr b="1" lang="es" sz="1200">
                          <a:solidFill>
                            <a:srgbClr val="434343"/>
                          </a:solidFill>
                          <a:latin typeface="Lato"/>
                          <a:ea typeface="Lato"/>
                          <a:cs typeface="Lato"/>
                          <a:sym typeface="Lato"/>
                        </a:rPr>
                        <a:t>DenseNet121</a:t>
                      </a:r>
                      <a:endParaRPr b="1"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s" sz="1200">
                          <a:solidFill>
                            <a:srgbClr val="434343"/>
                          </a:solidFill>
                          <a:latin typeface="Lato"/>
                          <a:ea typeface="Lato"/>
                          <a:cs typeface="Lato"/>
                          <a:sym typeface="Lato"/>
                        </a:rPr>
                        <a:t>Clasificador + DenseBlock4 + Norm5</a:t>
                      </a:r>
                      <a:endParaRPr b="1"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s" sz="1200">
                          <a:solidFill>
                            <a:srgbClr val="434343"/>
                          </a:solidFill>
                          <a:latin typeface="Lato"/>
                          <a:ea typeface="Lato"/>
                          <a:cs typeface="Lato"/>
                          <a:sym typeface="Lato"/>
                        </a:rPr>
                        <a:t>0.95</a:t>
                      </a:r>
                      <a:endParaRPr b="1" sz="1200">
                        <a:solidFill>
                          <a:srgbClr val="434343"/>
                        </a:solidFill>
                        <a:latin typeface="Lato"/>
                        <a:ea typeface="Lato"/>
                        <a:cs typeface="Lato"/>
                        <a:sym typeface="Lato"/>
                      </a:endParaRPr>
                    </a:p>
                  </a:txBody>
                  <a:tcPr marT="91425" marB="91425" marR="91425" marL="91425"/>
                </a:tc>
                <a:tc>
                  <a:txBody>
                    <a:bodyPr/>
                    <a:lstStyle/>
                    <a:p>
                      <a:pPr indent="0" lvl="0" marL="0" rtl="0" algn="ctr">
                        <a:spcBef>
                          <a:spcPts val="0"/>
                        </a:spcBef>
                        <a:spcAft>
                          <a:spcPts val="0"/>
                        </a:spcAft>
                        <a:buNone/>
                      </a:pPr>
                      <a:r>
                        <a:rPr b="1" lang="es" sz="1200">
                          <a:solidFill>
                            <a:srgbClr val="434343"/>
                          </a:solidFill>
                          <a:latin typeface="Lato"/>
                          <a:ea typeface="Lato"/>
                          <a:cs typeface="Lato"/>
                          <a:sym typeface="Lato"/>
                        </a:rPr>
                        <a:t>0.95</a:t>
                      </a:r>
                      <a:endParaRPr b="1" sz="1200">
                        <a:solidFill>
                          <a:srgbClr val="434343"/>
                        </a:solidFill>
                        <a:latin typeface="Lato"/>
                        <a:ea typeface="Lato"/>
                        <a:cs typeface="Lato"/>
                        <a:sym typeface="Lato"/>
                      </a:endParaRPr>
                    </a:p>
                  </a:txBody>
                  <a:tcPr marT="91425" marB="91425" marR="91425" marL="91425"/>
                </a:tc>
              </a:tr>
            </a:tbl>
          </a:graphicData>
        </a:graphic>
      </p:graphicFrame>
      <p:sp>
        <p:nvSpPr>
          <p:cNvPr id="254" name="Google Shape;254;p34"/>
          <p:cNvSpPr txBox="1"/>
          <p:nvPr>
            <p:ph idx="1" type="body"/>
          </p:nvPr>
        </p:nvSpPr>
        <p:spPr>
          <a:xfrm>
            <a:off x="494975" y="2571750"/>
            <a:ext cx="8138100" cy="764400"/>
          </a:xfrm>
          <a:prstGeom prst="rect">
            <a:avLst/>
          </a:prstGeom>
        </p:spPr>
        <p:txBody>
          <a:bodyPr anchorCtr="0" anchor="t" bIns="91425" lIns="91425" spcFirstLastPara="1" rIns="91425" wrap="square" tIns="91425">
            <a:normAutofit lnSpcReduction="20000"/>
          </a:bodyPr>
          <a:lstStyle/>
          <a:p>
            <a:pPr indent="0" lvl="0" marL="0" rtl="0" algn="just">
              <a:lnSpc>
                <a:spcPct val="150000"/>
              </a:lnSpc>
              <a:spcBef>
                <a:spcPts val="0"/>
              </a:spcBef>
              <a:spcAft>
                <a:spcPts val="1200"/>
              </a:spcAft>
              <a:buNone/>
            </a:pPr>
            <a:r>
              <a:rPr lang="es" sz="1600"/>
              <a:t>Durante el entrenamiento, se observó la necesidad de aplicar </a:t>
            </a:r>
            <a:r>
              <a:rPr b="1" lang="es" sz="1600"/>
              <a:t>fine-tuning parcial</a:t>
            </a:r>
            <a:r>
              <a:rPr lang="es" sz="1600"/>
              <a:t>, para ajustar las representaciones de alto nivel al dominio de las imágenes de tomografía.</a:t>
            </a:r>
            <a:endParaRPr b="1"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5"/>
          <p:cNvSpPr txBox="1"/>
          <p:nvPr>
            <p:ph idx="1" type="body"/>
          </p:nvPr>
        </p:nvSpPr>
        <p:spPr>
          <a:xfrm>
            <a:off x="4918775" y="665375"/>
            <a:ext cx="4045800" cy="43512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0"/>
              </a:spcAft>
              <a:buNone/>
            </a:pPr>
            <a:r>
              <a:rPr lang="es" sz="1550"/>
              <a:t>La arquitectura</a:t>
            </a:r>
            <a:r>
              <a:rPr lang="es" sz="1550"/>
              <a:t> </a:t>
            </a:r>
            <a:r>
              <a:rPr b="1" lang="es" sz="1550"/>
              <a:t>DenseNet121 preentrenada en ImageNet</a:t>
            </a:r>
            <a:r>
              <a:rPr lang="es" sz="1550"/>
              <a:t>, aplicando </a:t>
            </a:r>
            <a:r>
              <a:rPr b="1" lang="es" sz="1550"/>
              <a:t>fine-tuning parcial</a:t>
            </a:r>
            <a:r>
              <a:rPr lang="es" sz="1550"/>
              <a:t> mostró una </a:t>
            </a:r>
            <a:r>
              <a:rPr b="1" lang="es" sz="1550"/>
              <a:t>excelente capacidad de discriminación</a:t>
            </a:r>
            <a:r>
              <a:rPr lang="es" sz="1550"/>
              <a:t> entre las clases.</a:t>
            </a:r>
            <a:endParaRPr sz="1550"/>
          </a:p>
          <a:p>
            <a:pPr indent="0" lvl="0" marL="0" rtl="0" algn="just">
              <a:lnSpc>
                <a:spcPct val="150000"/>
              </a:lnSpc>
              <a:spcBef>
                <a:spcPts val="1200"/>
              </a:spcBef>
              <a:spcAft>
                <a:spcPts val="0"/>
              </a:spcAft>
              <a:buNone/>
            </a:pPr>
            <a:r>
              <a:rPr lang="es" sz="1550"/>
              <a:t>La clase </a:t>
            </a:r>
            <a:r>
              <a:rPr b="1" lang="es" sz="1550"/>
              <a:t>Normal</a:t>
            </a:r>
            <a:r>
              <a:rPr lang="es" sz="1550"/>
              <a:t> mantiene un </a:t>
            </a:r>
            <a:r>
              <a:rPr b="1" lang="es" sz="1550"/>
              <a:t>recall de 1.0</a:t>
            </a:r>
            <a:r>
              <a:rPr lang="es" sz="1550"/>
              <a:t>.</a:t>
            </a:r>
            <a:endParaRPr sz="1550"/>
          </a:p>
          <a:p>
            <a:pPr indent="0" lvl="0" marL="0" rtl="0" algn="just">
              <a:lnSpc>
                <a:spcPct val="150000"/>
              </a:lnSpc>
              <a:spcBef>
                <a:spcPts val="1200"/>
              </a:spcBef>
              <a:spcAft>
                <a:spcPts val="0"/>
              </a:spcAft>
              <a:buNone/>
            </a:pPr>
            <a:r>
              <a:rPr lang="es" sz="1550"/>
              <a:t>Se mantienen algunas </a:t>
            </a:r>
            <a:r>
              <a:rPr b="1" lang="es" sz="1550"/>
              <a:t>leves confusiones entre subtipos tumorales</a:t>
            </a:r>
            <a:r>
              <a:rPr lang="es" sz="1550"/>
              <a:t>, lo que se podría atribuir a una similitud entre estas imágenes.</a:t>
            </a:r>
            <a:endParaRPr sz="1550"/>
          </a:p>
          <a:p>
            <a:pPr indent="0" lvl="0" marL="0" rtl="0" algn="just">
              <a:lnSpc>
                <a:spcPct val="150000"/>
              </a:lnSpc>
              <a:spcBef>
                <a:spcPts val="1200"/>
              </a:spcBef>
              <a:spcAft>
                <a:spcPts val="1200"/>
              </a:spcAft>
              <a:buNone/>
            </a:pPr>
            <a:r>
              <a:rPr lang="es" sz="1550"/>
              <a:t>Se observó un </a:t>
            </a:r>
            <a:r>
              <a:rPr b="1" lang="es" sz="1550"/>
              <a:t>leve overfitting</a:t>
            </a:r>
            <a:r>
              <a:rPr lang="es" sz="1550"/>
              <a:t> en la curva de pérdida durante el entrenamiento.</a:t>
            </a:r>
            <a:endParaRPr sz="1550"/>
          </a:p>
        </p:txBody>
      </p:sp>
      <p:sp>
        <p:nvSpPr>
          <p:cNvPr id="260" name="Google Shape;260;p3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61" name="Google Shape;261;p35"/>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DenseNet121</a:t>
            </a:r>
            <a:endParaRPr/>
          </a:p>
        </p:txBody>
      </p:sp>
      <p:pic>
        <p:nvPicPr>
          <p:cNvPr id="262" name="Google Shape;262;p35"/>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263" name="Google Shape;263;p35"/>
          <p:cNvPicPr preferRelativeResize="0"/>
          <p:nvPr/>
        </p:nvPicPr>
        <p:blipFill>
          <a:blip r:embed="rId4">
            <a:alphaModFix/>
          </a:blip>
          <a:stretch>
            <a:fillRect/>
          </a:stretch>
        </p:blipFill>
        <p:spPr>
          <a:xfrm>
            <a:off x="270221" y="803275"/>
            <a:ext cx="4301775" cy="3801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6"/>
          <p:cNvSpPr txBox="1"/>
          <p:nvPr>
            <p:ph idx="1" type="body"/>
          </p:nvPr>
        </p:nvSpPr>
        <p:spPr>
          <a:xfrm>
            <a:off x="422225" y="3078425"/>
            <a:ext cx="8152800" cy="16407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s" sz="1600"/>
              <a:t>De acuerdo a lo aprendido al entrenar la red DenseNet121, se entrenó un modelo ResNet50 realizando un fine-tuning del último bloque convolucional (layer4, o Stage 5 en el diagrama).</a:t>
            </a:r>
            <a:endParaRPr sz="1400">
              <a:solidFill>
                <a:srgbClr val="000000"/>
              </a:solidFill>
            </a:endParaRPr>
          </a:p>
          <a:p>
            <a:pPr indent="0" lvl="0" marL="0" rtl="0" algn="just">
              <a:lnSpc>
                <a:spcPct val="100000"/>
              </a:lnSpc>
              <a:spcBef>
                <a:spcPts val="1200"/>
              </a:spcBef>
              <a:spcAft>
                <a:spcPts val="0"/>
              </a:spcAft>
              <a:buNone/>
            </a:pPr>
            <a:r>
              <a:t/>
            </a:r>
            <a:endParaRPr sz="1400">
              <a:solidFill>
                <a:srgbClr val="000000"/>
              </a:solidFill>
            </a:endParaRPr>
          </a:p>
          <a:p>
            <a:pPr indent="0" lvl="0" marL="0" rtl="0" algn="just">
              <a:lnSpc>
                <a:spcPct val="100000"/>
              </a:lnSpc>
              <a:spcBef>
                <a:spcPts val="0"/>
              </a:spcBef>
              <a:spcAft>
                <a:spcPts val="0"/>
              </a:spcAft>
              <a:buNone/>
            </a:pPr>
            <a:r>
              <a:t/>
            </a:r>
            <a:endParaRPr i="1" sz="1400">
              <a:solidFill>
                <a:srgbClr val="000000"/>
              </a:solidFill>
            </a:endParaRPr>
          </a:p>
          <a:p>
            <a:pPr indent="0" lvl="0" marL="0" rtl="0" algn="just">
              <a:spcBef>
                <a:spcPts val="0"/>
              </a:spcBef>
              <a:spcAft>
                <a:spcPts val="1200"/>
              </a:spcAft>
              <a:buNone/>
            </a:pPr>
            <a:r>
              <a:t/>
            </a:r>
            <a:endParaRPr b="1" sz="1800" u="sng"/>
          </a:p>
        </p:txBody>
      </p:sp>
      <p:sp>
        <p:nvSpPr>
          <p:cNvPr id="269" name="Google Shape;269;p3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70" name="Google Shape;270;p36"/>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ResNet50</a:t>
            </a:r>
            <a:endParaRPr/>
          </a:p>
        </p:txBody>
      </p:sp>
      <p:pic>
        <p:nvPicPr>
          <p:cNvPr id="271" name="Google Shape;271;p36"/>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272" name="Google Shape;272;p36"/>
          <p:cNvPicPr preferRelativeResize="0"/>
          <p:nvPr/>
        </p:nvPicPr>
        <p:blipFill>
          <a:blip r:embed="rId4">
            <a:alphaModFix/>
          </a:blip>
          <a:stretch>
            <a:fillRect/>
          </a:stretch>
        </p:blipFill>
        <p:spPr>
          <a:xfrm>
            <a:off x="1436248" y="912425"/>
            <a:ext cx="6271525" cy="1902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7"/>
          <p:cNvSpPr txBox="1"/>
          <p:nvPr>
            <p:ph idx="1" type="body"/>
          </p:nvPr>
        </p:nvSpPr>
        <p:spPr>
          <a:xfrm>
            <a:off x="4836425" y="912425"/>
            <a:ext cx="4248600" cy="38067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sz="1600"/>
              <a:t>El modelo logra una mejora en los resultados en el conjunto de test con respecto a DenseNet121:</a:t>
            </a:r>
            <a:endParaRPr sz="1600"/>
          </a:p>
          <a:p>
            <a:pPr indent="-317500" lvl="0" marL="457200" rtl="0" algn="l">
              <a:lnSpc>
                <a:spcPct val="200000"/>
              </a:lnSpc>
              <a:spcBef>
                <a:spcPts val="1200"/>
              </a:spcBef>
              <a:spcAft>
                <a:spcPts val="0"/>
              </a:spcAft>
              <a:buClr>
                <a:srgbClr val="000000"/>
              </a:buClr>
              <a:buSzPts val="1400"/>
              <a:buChar char="●"/>
            </a:pPr>
            <a:r>
              <a:rPr lang="es" sz="1600"/>
              <a:t>El Accuracy pasa de 95% a 97%.</a:t>
            </a:r>
            <a:endParaRPr sz="1600"/>
          </a:p>
          <a:p>
            <a:pPr indent="-317500" lvl="0" marL="457200" rtl="0" algn="l">
              <a:lnSpc>
                <a:spcPct val="200000"/>
              </a:lnSpc>
              <a:spcBef>
                <a:spcPts val="0"/>
              </a:spcBef>
              <a:spcAft>
                <a:spcPts val="0"/>
              </a:spcAft>
              <a:buClr>
                <a:srgbClr val="000000"/>
              </a:buClr>
              <a:buSzPts val="1400"/>
              <a:buChar char="●"/>
            </a:pPr>
            <a:r>
              <a:rPr lang="es" sz="1600"/>
              <a:t>El F1-Score macro pasa de 95% a 97%.</a:t>
            </a:r>
            <a:endParaRPr sz="1600"/>
          </a:p>
          <a:p>
            <a:pPr indent="-317500" lvl="0" marL="457200" rtl="0" algn="l">
              <a:lnSpc>
                <a:spcPct val="200000"/>
              </a:lnSpc>
              <a:spcBef>
                <a:spcPts val="0"/>
              </a:spcBef>
              <a:spcAft>
                <a:spcPts val="0"/>
              </a:spcAft>
              <a:buClr>
                <a:srgbClr val="000000"/>
              </a:buClr>
              <a:buSzPts val="1400"/>
              <a:buChar char="●"/>
            </a:pPr>
            <a:r>
              <a:rPr lang="es" sz="1600"/>
              <a:t>El modelo pasa de 10 a 4 errores.</a:t>
            </a:r>
            <a:endParaRPr sz="1400">
              <a:solidFill>
                <a:srgbClr val="000000"/>
              </a:solidFill>
            </a:endParaRPr>
          </a:p>
          <a:p>
            <a:pPr indent="0" lvl="0" marL="0" rtl="0" algn="just">
              <a:lnSpc>
                <a:spcPct val="100000"/>
              </a:lnSpc>
              <a:spcBef>
                <a:spcPts val="1200"/>
              </a:spcBef>
              <a:spcAft>
                <a:spcPts val="0"/>
              </a:spcAft>
              <a:buNone/>
            </a:pPr>
            <a:r>
              <a:t/>
            </a:r>
            <a:endParaRPr i="1" sz="1400">
              <a:solidFill>
                <a:srgbClr val="000000"/>
              </a:solidFill>
            </a:endParaRPr>
          </a:p>
          <a:p>
            <a:pPr indent="0" lvl="0" marL="0" rtl="0" algn="just">
              <a:spcBef>
                <a:spcPts val="0"/>
              </a:spcBef>
              <a:spcAft>
                <a:spcPts val="1200"/>
              </a:spcAft>
              <a:buNone/>
            </a:pPr>
            <a:r>
              <a:t/>
            </a:r>
            <a:endParaRPr b="1" sz="1800" u="sng"/>
          </a:p>
        </p:txBody>
      </p:sp>
      <p:sp>
        <p:nvSpPr>
          <p:cNvPr id="278" name="Google Shape;278;p3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79" name="Google Shape;279;p37"/>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Resultados modelo ResNet50</a:t>
            </a:r>
            <a:endParaRPr/>
          </a:p>
        </p:txBody>
      </p:sp>
      <p:pic>
        <p:nvPicPr>
          <p:cNvPr id="280" name="Google Shape;280;p37"/>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281" name="Google Shape;281;p37"/>
          <p:cNvPicPr preferRelativeResize="0"/>
          <p:nvPr/>
        </p:nvPicPr>
        <p:blipFill rotWithShape="1">
          <a:blip r:embed="rId4">
            <a:alphaModFix/>
          </a:blip>
          <a:srcRect b="1516" l="970" r="0" t="0"/>
          <a:stretch/>
        </p:blipFill>
        <p:spPr>
          <a:xfrm>
            <a:off x="84450" y="821300"/>
            <a:ext cx="4487550" cy="3928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87" name="Google Shape;287;p38"/>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G</a:t>
            </a:r>
            <a:r>
              <a:rPr lang="es"/>
              <a:t>rad-CAM</a:t>
            </a:r>
            <a:endParaRPr/>
          </a:p>
        </p:txBody>
      </p:sp>
      <p:pic>
        <p:nvPicPr>
          <p:cNvPr id="288" name="Google Shape;288;p38"/>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289" name="Google Shape;289;p38"/>
          <p:cNvPicPr preferRelativeResize="0"/>
          <p:nvPr/>
        </p:nvPicPr>
        <p:blipFill>
          <a:blip r:embed="rId4">
            <a:alphaModFix/>
          </a:blip>
          <a:stretch>
            <a:fillRect/>
          </a:stretch>
        </p:blipFill>
        <p:spPr>
          <a:xfrm>
            <a:off x="1635038" y="680275"/>
            <a:ext cx="5873925" cy="3154775"/>
          </a:xfrm>
          <a:prstGeom prst="rect">
            <a:avLst/>
          </a:prstGeom>
          <a:noFill/>
          <a:ln>
            <a:noFill/>
          </a:ln>
        </p:spPr>
      </p:pic>
      <p:sp>
        <p:nvSpPr>
          <p:cNvPr id="290" name="Google Shape;290;p38"/>
          <p:cNvSpPr txBox="1"/>
          <p:nvPr>
            <p:ph idx="1" type="body"/>
          </p:nvPr>
        </p:nvSpPr>
        <p:spPr>
          <a:xfrm>
            <a:off x="495600" y="3938250"/>
            <a:ext cx="8152800" cy="998100"/>
          </a:xfrm>
          <a:prstGeom prst="rect">
            <a:avLst/>
          </a:prstGeom>
        </p:spPr>
        <p:txBody>
          <a:bodyPr anchorCtr="0" anchor="t" bIns="91425" lIns="91425" spcFirstLastPara="1" rIns="91425" wrap="square" tIns="91425">
            <a:normAutofit fontScale="77500"/>
          </a:bodyPr>
          <a:lstStyle/>
          <a:p>
            <a:pPr indent="0" lvl="0" marL="0" rtl="0" algn="just">
              <a:lnSpc>
                <a:spcPct val="100000"/>
              </a:lnSpc>
              <a:spcBef>
                <a:spcPts val="0"/>
              </a:spcBef>
              <a:spcAft>
                <a:spcPts val="0"/>
              </a:spcAft>
              <a:buNone/>
            </a:pPr>
            <a:r>
              <a:rPr lang="es" sz="1600"/>
              <a:t>Para las 4 imágenes con errores se realizó el análisis Grad-CAM sobre la layer4 de ResNet50 para analizar las zonas relevantes para esta capa de las imágenes clasificadas incorrectamente, y compararlas con las correctas.</a:t>
            </a:r>
            <a:endParaRPr sz="1600"/>
          </a:p>
          <a:p>
            <a:pPr indent="0" lvl="0" marL="0" rtl="0" algn="just">
              <a:lnSpc>
                <a:spcPct val="100000"/>
              </a:lnSpc>
              <a:spcBef>
                <a:spcPts val="0"/>
              </a:spcBef>
              <a:spcAft>
                <a:spcPts val="0"/>
              </a:spcAft>
              <a:buNone/>
            </a:pPr>
            <a:r>
              <a:rPr lang="es" sz="1600"/>
              <a:t>En general se observa que en las incorrectas, la zona relevante no abarca el tumor.</a:t>
            </a:r>
            <a:endParaRPr sz="1600"/>
          </a:p>
          <a:p>
            <a:pPr indent="0" lvl="0" marL="0" rtl="0" algn="just">
              <a:lnSpc>
                <a:spcPct val="100000"/>
              </a:lnSpc>
              <a:spcBef>
                <a:spcPts val="0"/>
              </a:spcBef>
              <a:spcAft>
                <a:spcPts val="0"/>
              </a:spcAft>
              <a:buNone/>
            </a:pPr>
            <a:r>
              <a:rPr lang="es" sz="1600"/>
              <a:t>En uno de los casos, se observa que la imagen incorrecta presenta mayor brillo que las correctas.</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296" name="Google Shape;296;p39"/>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Resultados finales</a:t>
            </a:r>
            <a:endParaRPr/>
          </a:p>
        </p:txBody>
      </p:sp>
      <p:pic>
        <p:nvPicPr>
          <p:cNvPr id="297" name="Google Shape;297;p39"/>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pic>
        <p:nvPicPr>
          <p:cNvPr id="298" name="Google Shape;298;p39"/>
          <p:cNvPicPr preferRelativeResize="0"/>
          <p:nvPr/>
        </p:nvPicPr>
        <p:blipFill>
          <a:blip r:embed="rId4">
            <a:alphaModFix/>
          </a:blip>
          <a:stretch>
            <a:fillRect/>
          </a:stretch>
        </p:blipFill>
        <p:spPr>
          <a:xfrm>
            <a:off x="152400" y="612300"/>
            <a:ext cx="4877000" cy="4293225"/>
          </a:xfrm>
          <a:prstGeom prst="rect">
            <a:avLst/>
          </a:prstGeom>
          <a:noFill/>
          <a:ln>
            <a:noFill/>
          </a:ln>
        </p:spPr>
      </p:pic>
      <p:sp>
        <p:nvSpPr>
          <p:cNvPr id="299" name="Google Shape;299;p39"/>
          <p:cNvSpPr txBox="1"/>
          <p:nvPr>
            <p:ph idx="1" type="body"/>
          </p:nvPr>
        </p:nvSpPr>
        <p:spPr>
          <a:xfrm>
            <a:off x="5204925" y="713400"/>
            <a:ext cx="3880200" cy="38067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es" sz="1600"/>
              <a:t>Se ajustó ligeramente el parámetro de brightness de la transformación ColorJitter de 0,1 a 0,2 en el modelo ResNet50:</a:t>
            </a:r>
            <a:endParaRPr sz="1600"/>
          </a:p>
          <a:p>
            <a:pPr indent="-317500" lvl="0" marL="457200" rtl="0" algn="l">
              <a:lnSpc>
                <a:spcPct val="200000"/>
              </a:lnSpc>
              <a:spcBef>
                <a:spcPts val="1200"/>
              </a:spcBef>
              <a:spcAft>
                <a:spcPts val="0"/>
              </a:spcAft>
              <a:buClr>
                <a:srgbClr val="000000"/>
              </a:buClr>
              <a:buSzPts val="1400"/>
              <a:buChar char="●"/>
            </a:pPr>
            <a:r>
              <a:rPr lang="es" sz="1600"/>
              <a:t>El Accuracy final en el conjunto de test fue de 97,66%.</a:t>
            </a:r>
            <a:endParaRPr sz="1600"/>
          </a:p>
          <a:p>
            <a:pPr indent="-317500" lvl="0" marL="457200" rtl="0" algn="l">
              <a:lnSpc>
                <a:spcPct val="200000"/>
              </a:lnSpc>
              <a:spcBef>
                <a:spcPts val="0"/>
              </a:spcBef>
              <a:spcAft>
                <a:spcPts val="0"/>
              </a:spcAft>
              <a:buClr>
                <a:srgbClr val="000000"/>
              </a:buClr>
              <a:buSzPts val="1400"/>
              <a:buChar char="●"/>
            </a:pPr>
            <a:r>
              <a:rPr lang="es" sz="1600"/>
              <a:t>De las 4 imágenes incorrectamente clasificadas, ahora se pasó a 3. </a:t>
            </a:r>
            <a:endParaRPr sz="1400">
              <a:solidFill>
                <a:srgbClr val="000000"/>
              </a:solidFill>
            </a:endParaRPr>
          </a:p>
          <a:p>
            <a:pPr indent="0" lvl="0" marL="0" rtl="0" algn="just">
              <a:lnSpc>
                <a:spcPct val="100000"/>
              </a:lnSpc>
              <a:spcBef>
                <a:spcPts val="1200"/>
              </a:spcBef>
              <a:spcAft>
                <a:spcPts val="0"/>
              </a:spcAft>
              <a:buNone/>
            </a:pPr>
            <a:r>
              <a:t/>
            </a:r>
            <a:endParaRPr i="1" sz="1400">
              <a:solidFill>
                <a:srgbClr val="000000"/>
              </a:solidFill>
            </a:endParaRPr>
          </a:p>
          <a:p>
            <a:pPr indent="0" lvl="0" marL="0" rtl="0" algn="just">
              <a:spcBef>
                <a:spcPts val="0"/>
              </a:spcBef>
              <a:spcAft>
                <a:spcPts val="1200"/>
              </a:spcAft>
              <a:buNone/>
            </a:pPr>
            <a:r>
              <a:t/>
            </a:r>
            <a:endParaRPr b="1" sz="1800" u="sng"/>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0"/>
          <p:cNvSpPr txBox="1"/>
          <p:nvPr>
            <p:ph idx="1" type="body"/>
          </p:nvPr>
        </p:nvSpPr>
        <p:spPr>
          <a:xfrm>
            <a:off x="460775" y="764650"/>
            <a:ext cx="8206500" cy="4057500"/>
          </a:xfrm>
          <a:prstGeom prst="rect">
            <a:avLst/>
          </a:prstGeom>
        </p:spPr>
        <p:txBody>
          <a:bodyPr anchorCtr="0" anchor="t" bIns="91425" lIns="91425" spcFirstLastPara="1" rIns="91425" wrap="square" tIns="91425">
            <a:noAutofit/>
          </a:bodyPr>
          <a:lstStyle/>
          <a:p>
            <a:pPr indent="-323850" lvl="0" marL="457200" rtl="0" algn="just">
              <a:lnSpc>
                <a:spcPct val="140000"/>
              </a:lnSpc>
              <a:spcBef>
                <a:spcPts val="0"/>
              </a:spcBef>
              <a:spcAft>
                <a:spcPts val="0"/>
              </a:spcAft>
              <a:buSzPts val="1500"/>
              <a:buChar char="●"/>
            </a:pPr>
            <a:r>
              <a:rPr lang="es" sz="1500"/>
              <a:t>La arquitectura </a:t>
            </a:r>
            <a:r>
              <a:rPr b="1" lang="es" sz="1500"/>
              <a:t>VGG16</a:t>
            </a:r>
            <a:r>
              <a:rPr lang="es" sz="1500"/>
              <a:t> resultó útil como </a:t>
            </a:r>
            <a:r>
              <a:rPr b="1" lang="es" sz="1500"/>
              <a:t>baseline</a:t>
            </a:r>
            <a:r>
              <a:rPr lang="es" sz="1500"/>
              <a:t>. Los resultados para </a:t>
            </a:r>
            <a:r>
              <a:rPr b="1" lang="es" sz="1500"/>
              <a:t>DenseNet121 y ResNet50</a:t>
            </a:r>
            <a:r>
              <a:rPr lang="es" sz="1500"/>
              <a:t> resultaron superadores, siendo este último el que mostró el </a:t>
            </a:r>
            <a:r>
              <a:rPr b="1" lang="es" sz="1500"/>
              <a:t>mejor desempeño</a:t>
            </a:r>
            <a:r>
              <a:rPr lang="es" sz="1500"/>
              <a:t>.</a:t>
            </a:r>
            <a:endParaRPr sz="1500"/>
          </a:p>
          <a:p>
            <a:pPr indent="-323850" lvl="0" marL="457200" rtl="0" algn="just">
              <a:lnSpc>
                <a:spcPct val="140000"/>
              </a:lnSpc>
              <a:spcBef>
                <a:spcPts val="0"/>
              </a:spcBef>
              <a:spcAft>
                <a:spcPts val="0"/>
              </a:spcAft>
              <a:buSzPts val="1500"/>
              <a:buChar char="●"/>
            </a:pPr>
            <a:r>
              <a:rPr lang="es" sz="1500"/>
              <a:t>El </a:t>
            </a:r>
            <a:r>
              <a:rPr b="1" lang="es" sz="1500"/>
              <a:t>eliminar los duplicados</a:t>
            </a:r>
            <a:r>
              <a:rPr lang="es" sz="1500"/>
              <a:t>, si bien redujo el dataset, permitió </a:t>
            </a:r>
            <a:r>
              <a:rPr b="1" lang="es" sz="1500"/>
              <a:t>evitar el data leakage</a:t>
            </a:r>
            <a:r>
              <a:rPr lang="es" sz="1500"/>
              <a:t>, y entrenar modelos con buena generalización.</a:t>
            </a:r>
            <a:endParaRPr sz="1500"/>
          </a:p>
          <a:p>
            <a:pPr indent="-323850" lvl="0" marL="457200" rtl="0" algn="just">
              <a:lnSpc>
                <a:spcPct val="140000"/>
              </a:lnSpc>
              <a:spcBef>
                <a:spcPts val="0"/>
              </a:spcBef>
              <a:spcAft>
                <a:spcPts val="0"/>
              </a:spcAft>
              <a:buSzPts val="1500"/>
              <a:buChar char="●"/>
            </a:pPr>
            <a:r>
              <a:rPr lang="es" sz="1500"/>
              <a:t>El </a:t>
            </a:r>
            <a:r>
              <a:rPr b="1" lang="es" sz="1500"/>
              <a:t>Análisis Exploratorio de Datos</a:t>
            </a:r>
            <a:r>
              <a:rPr lang="es" sz="1500"/>
              <a:t> permitió identificar </a:t>
            </a:r>
            <a:r>
              <a:rPr b="1" lang="es" sz="1500"/>
              <a:t>transformaciones</a:t>
            </a:r>
            <a:r>
              <a:rPr lang="es" sz="1500"/>
              <a:t> que resultaron en una buena performance en general.</a:t>
            </a:r>
            <a:endParaRPr sz="1500"/>
          </a:p>
          <a:p>
            <a:pPr indent="-323850" lvl="0" marL="457200" rtl="0" algn="just">
              <a:lnSpc>
                <a:spcPct val="140000"/>
              </a:lnSpc>
              <a:spcBef>
                <a:spcPts val="0"/>
              </a:spcBef>
              <a:spcAft>
                <a:spcPts val="0"/>
              </a:spcAft>
              <a:buSzPts val="1500"/>
              <a:buChar char="●"/>
            </a:pPr>
            <a:r>
              <a:rPr lang="es" sz="1500"/>
              <a:t>El uso de </a:t>
            </a:r>
            <a:r>
              <a:rPr b="1" lang="es" sz="1500"/>
              <a:t>Transfer Learning</a:t>
            </a:r>
            <a:r>
              <a:rPr lang="es" sz="1500"/>
              <a:t> permitió entrenar </a:t>
            </a:r>
            <a:r>
              <a:rPr b="1" lang="es" sz="1500"/>
              <a:t>modelos robustos</a:t>
            </a:r>
            <a:r>
              <a:rPr lang="es" sz="1500"/>
              <a:t> a pesar de contar con un dataset pequeño.</a:t>
            </a:r>
            <a:endParaRPr sz="1500"/>
          </a:p>
          <a:p>
            <a:pPr indent="-323850" lvl="0" marL="457200" rtl="0" algn="just">
              <a:lnSpc>
                <a:spcPct val="140000"/>
              </a:lnSpc>
              <a:spcBef>
                <a:spcPts val="0"/>
              </a:spcBef>
              <a:spcAft>
                <a:spcPts val="0"/>
              </a:spcAft>
              <a:buSzPts val="1500"/>
              <a:buChar char="●"/>
            </a:pPr>
            <a:r>
              <a:rPr lang="es" sz="1500"/>
              <a:t>En las </a:t>
            </a:r>
            <a:r>
              <a:rPr b="1" lang="es" sz="1500"/>
              <a:t>arquitecturas más complejas</a:t>
            </a:r>
            <a:r>
              <a:rPr lang="es" sz="1500"/>
              <a:t> se requirió </a:t>
            </a:r>
            <a:r>
              <a:rPr b="1" lang="es" sz="1500"/>
              <a:t>entrenar la última capa (fine-tuning)</a:t>
            </a:r>
            <a:r>
              <a:rPr lang="es" sz="1500"/>
              <a:t> para mejorar el desempeño. Esto indica que, si bien las features genéricas aprendidas en ImageNet resultan útiles, es necesario ajustar las representaciones al dominio de la tomografía antes de pasar por la capa de clasificación.</a:t>
            </a:r>
            <a:endParaRPr sz="1500"/>
          </a:p>
        </p:txBody>
      </p:sp>
      <p:sp>
        <p:nvSpPr>
          <p:cNvPr id="305" name="Google Shape;305;p4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
        <p:nvSpPr>
          <p:cNvPr id="306" name="Google Shape;306;p40"/>
          <p:cNvSpPr txBox="1"/>
          <p:nvPr>
            <p:ph type="title"/>
          </p:nvPr>
        </p:nvSpPr>
        <p:spPr>
          <a:xfrm>
            <a:off x="-16300" y="-23700"/>
            <a:ext cx="6956700" cy="483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Conclusiones</a:t>
            </a:r>
            <a:endParaRPr/>
          </a:p>
        </p:txBody>
      </p:sp>
      <p:pic>
        <p:nvPicPr>
          <p:cNvPr id="307" name="Google Shape;307;p40"/>
          <p:cNvPicPr preferRelativeResize="0"/>
          <p:nvPr/>
        </p:nvPicPr>
        <p:blipFill rotWithShape="1">
          <a:blip r:embed="rId3">
            <a:alphaModFix/>
          </a:blip>
          <a:srcRect b="79082" l="0" r="0" t="0"/>
          <a:stretch/>
        </p:blipFill>
        <p:spPr>
          <a:xfrm>
            <a:off x="7299250" y="0"/>
            <a:ext cx="1844749" cy="4836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1"/>
          <p:cNvSpPr txBox="1"/>
          <p:nvPr>
            <p:ph type="title"/>
          </p:nvPr>
        </p:nvSpPr>
        <p:spPr>
          <a:xfrm>
            <a:off x="729450" y="2133536"/>
            <a:ext cx="7688400" cy="535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s" sz="2440"/>
              <a:t>Muchas gracias!</a:t>
            </a:r>
            <a:endParaRPr sz="244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